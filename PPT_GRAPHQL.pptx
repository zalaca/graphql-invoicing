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72" r:id="rId17"/>
    <p:sldId id="269" r:id="rId18"/>
    <p:sldId id="270" r:id="rId1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/>
    <p:restoredTop sz="94714"/>
  </p:normalViewPr>
  <p:slideViewPr>
    <p:cSldViewPr>
      <p:cViewPr varScale="1">
        <p:scale>
          <a:sx n="65" d="100"/>
          <a:sy n="65" d="100"/>
        </p:scale>
        <p:origin x="256" y="6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08320" y="1011061"/>
            <a:ext cx="7969884" cy="1139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3242" y="3929250"/>
            <a:ext cx="7134859" cy="5046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50598" y="3606447"/>
            <a:ext cx="4417694" cy="501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6609" y="561622"/>
            <a:ext cx="16081980" cy="1546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23232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1956" y="4244975"/>
            <a:ext cx="7714615" cy="2378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10774" y="9468643"/>
            <a:ext cx="124004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85"/>
              </a:lnSpc>
            </a:pPr>
            <a:r>
              <a:rPr sz="1450" dirty="0"/>
              <a:t>W</a:t>
            </a:r>
            <a:r>
              <a:rPr sz="1450" spc="285" dirty="0"/>
              <a:t> </a:t>
            </a:r>
            <a:r>
              <a:rPr sz="1450" spc="-10" dirty="0"/>
              <a:t>NotebaokLM</a:t>
            </a:r>
            <a:endParaRPr sz="14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Relationship Id="rId9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86735" y="784577"/>
            <a:ext cx="8054975" cy="3403368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3970" marR="5080" indent="-1905">
              <a:lnSpc>
                <a:spcPct val="90000"/>
              </a:lnSpc>
              <a:spcBef>
                <a:spcPts val="835"/>
              </a:spcBef>
            </a:pPr>
            <a:r>
              <a:rPr sz="5950" b="1" spc="-90" dirty="0">
                <a:solidFill>
                  <a:srgbClr val="212121"/>
                </a:solidFill>
                <a:latin typeface="Arial MT"/>
                <a:cs typeface="Arial MT"/>
              </a:rPr>
              <a:t>GraphQL:</a:t>
            </a:r>
            <a:r>
              <a:rPr sz="5950" b="1" spc="-2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5950" b="1" spc="75" dirty="0">
                <a:solidFill>
                  <a:srgbClr val="262626"/>
                </a:solidFill>
                <a:latin typeface="Arial MT"/>
                <a:cs typeface="Arial MT"/>
              </a:rPr>
              <a:t>Más</a:t>
            </a:r>
            <a:r>
              <a:rPr sz="5950" b="1" spc="-3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950" b="1" dirty="0">
                <a:solidFill>
                  <a:srgbClr val="262626"/>
                </a:solidFill>
                <a:latin typeface="Arial MT"/>
                <a:cs typeface="Arial MT"/>
              </a:rPr>
              <a:t>allá</a:t>
            </a:r>
            <a:r>
              <a:rPr sz="5950" b="1" spc="-2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950" b="1" spc="95" dirty="0">
                <a:solidFill>
                  <a:srgbClr val="262626"/>
                </a:solidFill>
                <a:latin typeface="Arial MT"/>
                <a:cs typeface="Arial MT"/>
              </a:rPr>
              <a:t>de</a:t>
            </a:r>
            <a:r>
              <a:rPr sz="5950" b="1" spc="-4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950" b="1" spc="35" dirty="0">
                <a:solidFill>
                  <a:srgbClr val="282828"/>
                </a:solidFill>
                <a:latin typeface="Arial MT"/>
                <a:cs typeface="Arial MT"/>
              </a:rPr>
              <a:t>la </a:t>
            </a:r>
            <a:r>
              <a:rPr sz="5950" b="1" dirty="0">
                <a:solidFill>
                  <a:srgbClr val="262626"/>
                </a:solidFill>
                <a:latin typeface="Arial MT"/>
                <a:cs typeface="Arial MT"/>
              </a:rPr>
              <a:t>tecnología,</a:t>
            </a:r>
            <a:r>
              <a:rPr sz="5950" b="1" spc="195" dirty="0">
                <a:solidFill>
                  <a:srgbClr val="262626"/>
                </a:solidFill>
                <a:latin typeface="Arial MT"/>
                <a:cs typeface="Arial MT"/>
              </a:rPr>
              <a:t> un</a:t>
            </a:r>
            <a:r>
              <a:rPr sz="5950" b="1" spc="-3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950" b="1" spc="-20" dirty="0">
                <a:solidFill>
                  <a:srgbClr val="262626"/>
                </a:solidFill>
                <a:latin typeface="Arial MT"/>
                <a:cs typeface="Arial MT"/>
              </a:rPr>
              <a:t>nuevo </a:t>
            </a:r>
            <a:r>
              <a:rPr sz="5950" b="1" dirty="0">
                <a:solidFill>
                  <a:srgbClr val="232323"/>
                </a:solidFill>
                <a:latin typeface="Arial MT"/>
                <a:cs typeface="Arial MT"/>
              </a:rPr>
              <a:t>paradigma</a:t>
            </a:r>
            <a:r>
              <a:rPr sz="5950" b="1" spc="2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5950" b="1" dirty="0">
                <a:solidFill>
                  <a:srgbClr val="262626"/>
                </a:solidFill>
                <a:latin typeface="Arial MT"/>
                <a:cs typeface="Arial MT"/>
              </a:rPr>
              <a:t>para</a:t>
            </a:r>
            <a:r>
              <a:rPr sz="5950" b="1" spc="-1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950" b="1" spc="-20" dirty="0">
                <a:solidFill>
                  <a:srgbClr val="262626"/>
                </a:solidFill>
                <a:latin typeface="Arial MT"/>
                <a:cs typeface="Arial MT"/>
              </a:rPr>
              <a:t>APIs</a:t>
            </a:r>
            <a:endParaRPr sz="5950" b="1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5" y="4372928"/>
            <a:ext cx="6492875" cy="100774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9050" marR="5080" indent="-6985">
              <a:lnSpc>
                <a:spcPts val="3650"/>
              </a:lnSpc>
              <a:spcBef>
                <a:spcPts val="580"/>
              </a:spcBef>
            </a:pPr>
            <a:r>
              <a:rPr sz="3400" spc="-70" dirty="0">
                <a:solidFill>
                  <a:srgbClr val="181818"/>
                </a:solidFill>
                <a:latin typeface="Arial MT"/>
                <a:cs typeface="Arial MT"/>
              </a:rPr>
              <a:t>Explorando</a:t>
            </a:r>
            <a:r>
              <a:rPr sz="3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400" spc="-65" dirty="0">
                <a:solidFill>
                  <a:srgbClr val="181818"/>
                </a:solidFill>
                <a:latin typeface="Arial MT"/>
                <a:cs typeface="Arial MT"/>
              </a:rPr>
              <a:t>una</a:t>
            </a:r>
            <a:r>
              <a:rPr sz="3400" spc="-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400" spc="-35" dirty="0">
                <a:solidFill>
                  <a:srgbClr val="161616"/>
                </a:solidFill>
                <a:latin typeface="Arial MT"/>
                <a:cs typeface="Arial MT"/>
              </a:rPr>
              <a:t>forma</a:t>
            </a:r>
            <a:r>
              <a:rPr sz="3400" spc="-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161616"/>
                </a:solidFill>
                <a:latin typeface="Arial MT"/>
                <a:cs typeface="Arial MT"/>
              </a:rPr>
              <a:t>diferente</a:t>
            </a:r>
            <a:r>
              <a:rPr sz="3400" spc="-1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1A1A1A"/>
                </a:solidFill>
                <a:latin typeface="Arial MT"/>
                <a:cs typeface="Arial MT"/>
              </a:rPr>
              <a:t>de </a:t>
            </a:r>
            <a:r>
              <a:rPr sz="3400" spc="-30" dirty="0">
                <a:solidFill>
                  <a:srgbClr val="181818"/>
                </a:solidFill>
                <a:latin typeface="Arial MT"/>
                <a:cs typeface="Arial MT"/>
              </a:rPr>
              <a:t>diseñar</a:t>
            </a:r>
            <a:r>
              <a:rPr sz="3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232323"/>
                </a:solidFill>
                <a:latin typeface="Arial MT"/>
                <a:cs typeface="Arial MT"/>
              </a:rPr>
              <a:t>y</a:t>
            </a:r>
            <a:r>
              <a:rPr sz="3400" spc="-2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400" spc="-35" dirty="0">
                <a:solidFill>
                  <a:srgbClr val="181818"/>
                </a:solidFill>
                <a:latin typeface="Arial MT"/>
                <a:cs typeface="Arial MT"/>
              </a:rPr>
              <a:t>consumir</a:t>
            </a:r>
            <a:r>
              <a:rPr sz="3400" spc="-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161616"/>
                </a:solidFill>
                <a:latin typeface="Arial MT"/>
                <a:cs typeface="Arial MT"/>
              </a:rPr>
              <a:t>información.</a:t>
            </a:r>
            <a:endParaRPr sz="3400" dirty="0">
              <a:latin typeface="Arial MT"/>
              <a:cs typeface="Arial MT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447C325E-CA83-B731-ACF6-06F757250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1447800"/>
            <a:ext cx="7079612" cy="7612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00" y="3975100"/>
            <a:ext cx="2324100" cy="2006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9700" y="4762500"/>
            <a:ext cx="2006600" cy="46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0300" y="3962400"/>
            <a:ext cx="1155700" cy="2070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09200" y="3454400"/>
            <a:ext cx="5981700" cy="30226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737600" y="2133600"/>
            <a:ext cx="0" cy="6324600"/>
          </a:xfrm>
          <a:custGeom>
            <a:avLst/>
            <a:gdLst/>
            <a:ahLst/>
            <a:cxnLst/>
            <a:rect l="l" t="t" r="r" b="b"/>
            <a:pathLst>
              <a:path h="6324600">
                <a:moveTo>
                  <a:pt x="0" y="6324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81C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1089614"/>
          </a:xfrm>
          <a:prstGeom prst="rect">
            <a:avLst/>
          </a:prstGeom>
        </p:spPr>
        <p:txBody>
          <a:bodyPr vert="horz" wrap="square" lIns="0" tIns="339936" rIns="0" bIns="0" rtlCol="0">
            <a:spAutoFit/>
          </a:bodyPr>
          <a:lstStyle/>
          <a:p>
            <a:pPr marL="1619885">
              <a:lnSpc>
                <a:spcPct val="100000"/>
              </a:lnSpc>
              <a:spcBef>
                <a:spcPts val="110"/>
              </a:spcBef>
            </a:pPr>
            <a:r>
              <a:rPr sz="4850" b="1" spc="100" dirty="0">
                <a:solidFill>
                  <a:srgbClr val="131313"/>
                </a:solidFill>
              </a:rPr>
              <a:t>Los</a:t>
            </a:r>
            <a:r>
              <a:rPr sz="4850" b="1" spc="-204" dirty="0">
                <a:solidFill>
                  <a:srgbClr val="131313"/>
                </a:solidFill>
              </a:rPr>
              <a:t> </a:t>
            </a:r>
            <a:r>
              <a:rPr sz="4850" b="1" spc="155" dirty="0">
                <a:solidFill>
                  <a:srgbClr val="181818"/>
                </a:solidFill>
              </a:rPr>
              <a:t>dos</a:t>
            </a:r>
            <a:r>
              <a:rPr sz="4850" b="1" spc="-100" dirty="0">
                <a:solidFill>
                  <a:srgbClr val="181818"/>
                </a:solidFill>
              </a:rPr>
              <a:t> </a:t>
            </a:r>
            <a:r>
              <a:rPr sz="4850" b="1" spc="125" dirty="0">
                <a:solidFill>
                  <a:srgbClr val="151515"/>
                </a:solidFill>
              </a:rPr>
              <a:t>problemas</a:t>
            </a:r>
            <a:r>
              <a:rPr sz="4850" b="1" spc="180" dirty="0">
                <a:solidFill>
                  <a:srgbClr val="151515"/>
                </a:solidFill>
              </a:rPr>
              <a:t> </a:t>
            </a:r>
            <a:r>
              <a:rPr sz="4850" b="1" spc="130" dirty="0">
                <a:solidFill>
                  <a:srgbClr val="131313"/>
                </a:solidFill>
              </a:rPr>
              <a:t>que</a:t>
            </a:r>
            <a:r>
              <a:rPr sz="4850" b="1" spc="-75" dirty="0">
                <a:solidFill>
                  <a:srgbClr val="131313"/>
                </a:solidFill>
              </a:rPr>
              <a:t> </a:t>
            </a:r>
            <a:r>
              <a:rPr sz="4850" b="1" spc="210" dirty="0">
                <a:solidFill>
                  <a:srgbClr val="131313"/>
                </a:solidFill>
              </a:rPr>
              <a:t>todos</a:t>
            </a:r>
            <a:r>
              <a:rPr sz="4850" b="1" spc="-135" dirty="0">
                <a:solidFill>
                  <a:srgbClr val="131313"/>
                </a:solidFill>
              </a:rPr>
              <a:t> </a:t>
            </a:r>
            <a:r>
              <a:rPr sz="4850" b="1" spc="145" dirty="0">
                <a:solidFill>
                  <a:srgbClr val="131313"/>
                </a:solidFill>
              </a:rPr>
              <a:t>hemos</a:t>
            </a:r>
            <a:r>
              <a:rPr sz="4850" b="1" spc="10" dirty="0">
                <a:solidFill>
                  <a:srgbClr val="131313"/>
                </a:solidFill>
              </a:rPr>
              <a:t> </a:t>
            </a:r>
            <a:r>
              <a:rPr sz="4850" b="1" spc="190" dirty="0">
                <a:solidFill>
                  <a:srgbClr val="131313"/>
                </a:solidFill>
              </a:rPr>
              <a:t>sufrido</a:t>
            </a:r>
            <a:endParaRPr sz="4850" b="1" dirty="0"/>
          </a:p>
        </p:txBody>
      </p:sp>
      <p:sp>
        <p:nvSpPr>
          <p:cNvPr id="8" name="object 8"/>
          <p:cNvSpPr txBox="1"/>
          <p:nvPr/>
        </p:nvSpPr>
        <p:spPr>
          <a:xfrm>
            <a:off x="2730745" y="2413352"/>
            <a:ext cx="1206754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56625" algn="l"/>
              </a:tabLst>
            </a:pPr>
            <a:r>
              <a:rPr sz="4100" b="1" spc="140" dirty="0" err="1">
                <a:solidFill>
                  <a:srgbClr val="151515"/>
                </a:solidFill>
                <a:latin typeface="Arial MT"/>
                <a:cs typeface="Arial MT"/>
              </a:rPr>
              <a:t>Overfetching</a:t>
            </a:r>
            <a:r>
              <a:rPr lang="es-ES" sz="4100" b="1" spc="140" dirty="0">
                <a:solidFill>
                  <a:srgbClr val="151515"/>
                </a:solidFill>
                <a:latin typeface="Arial MT"/>
                <a:cs typeface="Arial MT"/>
              </a:rPr>
              <a:t>                              </a:t>
            </a:r>
            <a:r>
              <a:rPr sz="4100" b="1" spc="140" dirty="0" err="1">
                <a:solidFill>
                  <a:srgbClr val="111111"/>
                </a:solidFill>
                <a:latin typeface="Arial MT"/>
                <a:cs typeface="Arial MT"/>
              </a:rPr>
              <a:t>Underfetching</a:t>
            </a:r>
            <a:endParaRPr sz="4100" b="1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8410" y="6872816"/>
            <a:ext cx="6389370" cy="1016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742950" marR="5080" indent="-730885">
              <a:lnSpc>
                <a:spcPts val="3800"/>
              </a:lnSpc>
              <a:spcBef>
                <a:spcPts val="390"/>
              </a:spcBef>
            </a:pPr>
            <a:r>
              <a:rPr sz="3300" spc="-254" dirty="0">
                <a:solidFill>
                  <a:srgbClr val="0C0C0C"/>
                </a:solidFill>
                <a:latin typeface="Arial MT"/>
                <a:cs typeface="Arial MT"/>
              </a:rPr>
              <a:t>El</a:t>
            </a:r>
            <a:r>
              <a:rPr sz="3300" spc="2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servidor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devuelve</a:t>
            </a:r>
            <a:r>
              <a:rPr sz="3300" spc="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más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datos</a:t>
            </a:r>
            <a:r>
              <a:rPr sz="3300" spc="-30" dirty="0">
                <a:latin typeface="Arial MT"/>
                <a:cs typeface="Arial MT"/>
              </a:rPr>
              <a:t> </a:t>
            </a:r>
            <a:r>
              <a:rPr sz="3300" spc="-25" dirty="0">
                <a:solidFill>
                  <a:srgbClr val="0F0F0F"/>
                </a:solidFill>
                <a:latin typeface="Arial MT"/>
                <a:cs typeface="Arial MT"/>
              </a:rPr>
              <a:t>de </a:t>
            </a:r>
            <a:r>
              <a:rPr sz="3300" dirty="0">
                <a:solidFill>
                  <a:srgbClr val="0C0C0C"/>
                </a:solidFill>
                <a:latin typeface="Arial MT"/>
                <a:cs typeface="Arial MT"/>
              </a:rPr>
              <a:t>los</a:t>
            </a:r>
            <a:r>
              <a:rPr sz="33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0E0E"/>
                </a:solidFill>
                <a:latin typeface="Arial MT"/>
                <a:cs typeface="Arial MT"/>
              </a:rPr>
              <a:t>que</a:t>
            </a:r>
            <a:r>
              <a:rPr sz="3300" spc="-12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el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F0F0F"/>
                </a:solidFill>
                <a:latin typeface="Arial MT"/>
                <a:cs typeface="Arial MT"/>
              </a:rPr>
              <a:t>cliente</a:t>
            </a:r>
            <a:r>
              <a:rPr sz="3300" spc="-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necesita.</a:t>
            </a:r>
            <a:endParaRPr sz="33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36019" y="6872816"/>
            <a:ext cx="7132320" cy="1016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716915">
              <a:lnSpc>
                <a:spcPts val="3800"/>
              </a:lnSpc>
              <a:spcBef>
                <a:spcPts val="390"/>
              </a:spcBef>
            </a:pPr>
            <a:r>
              <a:rPr sz="3300" spc="-254" dirty="0">
                <a:latin typeface="Arial MT"/>
                <a:cs typeface="Arial MT"/>
              </a:rPr>
              <a:t>El</a:t>
            </a:r>
            <a:r>
              <a:rPr sz="3300" spc="2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cliente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debe</a:t>
            </a:r>
            <a:r>
              <a:rPr sz="3300" spc="-7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hacer</a:t>
            </a:r>
            <a:r>
              <a:rPr sz="3300" spc="7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múltiples </a:t>
            </a:r>
            <a:r>
              <a:rPr sz="3300" spc="-40" dirty="0">
                <a:latin typeface="Arial MT"/>
                <a:cs typeface="Arial MT"/>
              </a:rPr>
              <a:t>llamadas</a:t>
            </a:r>
            <a:r>
              <a:rPr sz="3300" spc="-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para</a:t>
            </a:r>
            <a:r>
              <a:rPr sz="3300" spc="-7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construir</a:t>
            </a:r>
            <a:r>
              <a:rPr sz="3300" spc="5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una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sola</a:t>
            </a:r>
            <a:r>
              <a:rPr sz="3300" spc="-130" dirty="0"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A0A0A"/>
                </a:solidFill>
                <a:latin typeface="Arial MT"/>
                <a:cs typeface="Arial MT"/>
              </a:rPr>
              <a:t>vista.</a:t>
            </a:r>
            <a:endParaRPr sz="33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90176" y="8941858"/>
            <a:ext cx="946340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solidFill>
                  <a:srgbClr val="464646"/>
                </a:solidFill>
                <a:latin typeface="Arial MT"/>
                <a:cs typeface="Arial MT"/>
              </a:rPr>
              <a:t>Esto</a:t>
            </a:r>
            <a:r>
              <a:rPr sz="2300" spc="1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44444"/>
                </a:solidFill>
                <a:latin typeface="Arial MT"/>
                <a:cs typeface="Arial MT"/>
              </a:rPr>
              <a:t>genera</a:t>
            </a:r>
            <a:r>
              <a:rPr sz="2300" spc="28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444444"/>
                </a:solidFill>
                <a:latin typeface="Arial MT"/>
                <a:cs typeface="Arial MT"/>
              </a:rPr>
              <a:t>tráfico</a:t>
            </a:r>
            <a:r>
              <a:rPr sz="2300" spc="1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D3D3D"/>
                </a:solidFill>
                <a:latin typeface="Arial MT"/>
                <a:cs typeface="Arial MT"/>
              </a:rPr>
              <a:t>innecesario,</a:t>
            </a:r>
            <a:r>
              <a:rPr sz="2300" spc="295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F3F3F"/>
                </a:solidFill>
                <a:latin typeface="Arial MT"/>
                <a:cs typeface="Arial MT"/>
              </a:rPr>
              <a:t>aumenta</a:t>
            </a:r>
            <a:r>
              <a:rPr sz="2300" spc="29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24242"/>
                </a:solidFill>
                <a:latin typeface="Arial MT"/>
                <a:cs typeface="Arial MT"/>
              </a:rPr>
              <a:t>la</a:t>
            </a:r>
            <a:r>
              <a:rPr sz="2300" spc="16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B3B3B"/>
                </a:solidFill>
                <a:latin typeface="Arial MT"/>
                <a:cs typeface="Arial MT"/>
              </a:rPr>
              <a:t>latencia</a:t>
            </a:r>
            <a:r>
              <a:rPr sz="2300" spc="33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444444"/>
                </a:solidFill>
                <a:latin typeface="Arial MT"/>
                <a:cs typeface="Arial MT"/>
              </a:rPr>
              <a:t>y</a:t>
            </a:r>
            <a:r>
              <a:rPr sz="2300" spc="2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3F3F3F"/>
                </a:solidFill>
                <a:latin typeface="Arial MT"/>
                <a:cs typeface="Arial MT"/>
              </a:rPr>
              <a:t>la</a:t>
            </a:r>
            <a:r>
              <a:rPr sz="2300" spc="2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lang="es-ES" sz="2300" spc="-10" dirty="0" err="1">
                <a:solidFill>
                  <a:srgbClr val="3A3A3A"/>
                </a:solidFill>
                <a:latin typeface="Arial MT"/>
                <a:cs typeface="Arial MT"/>
              </a:rPr>
              <a:t>co</a:t>
            </a:r>
            <a:r>
              <a:rPr sz="2300" spc="-10" dirty="0" err="1">
                <a:solidFill>
                  <a:srgbClr val="3A3A3A"/>
                </a:solidFill>
                <a:latin typeface="Arial MT"/>
                <a:cs typeface="Arial MT"/>
              </a:rPr>
              <a:t>mplejidad</a:t>
            </a:r>
            <a:r>
              <a:rPr sz="2300" spc="-10" dirty="0">
                <a:solidFill>
                  <a:srgbClr val="3A3A3A"/>
                </a:solidFill>
                <a:latin typeface="Arial MT"/>
                <a:cs typeface="Arial MT"/>
              </a:rPr>
              <a:t>.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60797" y="684388"/>
            <a:ext cx="9858003" cy="143629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7780" marR="5080" indent="-5715">
              <a:lnSpc>
                <a:spcPts val="5200"/>
              </a:lnSpc>
              <a:spcBef>
                <a:spcPts val="800"/>
              </a:spcBef>
            </a:pPr>
            <a:r>
              <a:rPr lang="es-ES" sz="4850" b="1" spc="85" dirty="0">
                <a:solidFill>
                  <a:srgbClr val="181818"/>
                </a:solidFill>
              </a:rPr>
              <a:t>El </a:t>
            </a:r>
            <a:r>
              <a:rPr sz="4850" b="1" spc="85" dirty="0" err="1">
                <a:solidFill>
                  <a:srgbClr val="181818"/>
                </a:solidFill>
              </a:rPr>
              <a:t>mundo</a:t>
            </a:r>
            <a:r>
              <a:rPr sz="4850" b="1" spc="100" dirty="0">
                <a:solidFill>
                  <a:srgbClr val="181818"/>
                </a:solidFill>
              </a:rPr>
              <a:t> </a:t>
            </a:r>
            <a:r>
              <a:rPr sz="4850" b="1" spc="75" dirty="0">
                <a:solidFill>
                  <a:srgbClr val="1A1A1A"/>
                </a:solidFill>
              </a:rPr>
              <a:t>que</a:t>
            </a:r>
            <a:r>
              <a:rPr sz="4850" b="1" spc="-220" dirty="0">
                <a:solidFill>
                  <a:srgbClr val="1A1A1A"/>
                </a:solidFill>
              </a:rPr>
              <a:t> </a:t>
            </a:r>
            <a:r>
              <a:rPr sz="4850" b="1" spc="85" dirty="0">
                <a:solidFill>
                  <a:srgbClr val="181818"/>
                </a:solidFill>
              </a:rPr>
              <a:t>conocemos: </a:t>
            </a:r>
            <a:br>
              <a:rPr lang="es-ES" sz="4850" b="1" spc="85" dirty="0">
                <a:solidFill>
                  <a:srgbClr val="181818"/>
                </a:solidFill>
              </a:rPr>
            </a:br>
            <a:r>
              <a:rPr lang="es-ES" sz="4850" b="1" spc="85" dirty="0">
                <a:solidFill>
                  <a:srgbClr val="181818"/>
                </a:solidFill>
              </a:rPr>
              <a:t>El </a:t>
            </a:r>
            <a:r>
              <a:rPr sz="4850" b="1" spc="70" dirty="0" err="1">
                <a:solidFill>
                  <a:srgbClr val="181818"/>
                </a:solidFill>
              </a:rPr>
              <a:t>estándar</a:t>
            </a:r>
            <a:r>
              <a:rPr sz="4850" b="1" spc="-50" dirty="0">
                <a:solidFill>
                  <a:srgbClr val="181818"/>
                </a:solidFill>
              </a:rPr>
              <a:t> </a:t>
            </a:r>
            <a:r>
              <a:rPr sz="4850" b="1" spc="-330" dirty="0">
                <a:solidFill>
                  <a:srgbClr val="1A1A1A"/>
                </a:solidFill>
              </a:rPr>
              <a:t>REST</a:t>
            </a:r>
            <a:r>
              <a:rPr sz="4850" b="1" spc="-10" dirty="0">
                <a:solidFill>
                  <a:srgbClr val="1A1A1A"/>
                </a:solidFill>
              </a:rPr>
              <a:t> </a:t>
            </a:r>
            <a:r>
              <a:rPr sz="4850" b="1" dirty="0">
                <a:solidFill>
                  <a:srgbClr val="1A1A1A"/>
                </a:solidFill>
              </a:rPr>
              <a:t>y</a:t>
            </a:r>
            <a:r>
              <a:rPr sz="4850" b="1" spc="229" dirty="0">
                <a:solidFill>
                  <a:srgbClr val="1A1A1A"/>
                </a:solidFill>
              </a:rPr>
              <a:t> </a:t>
            </a:r>
            <a:r>
              <a:rPr sz="4850" b="1" spc="75" dirty="0">
                <a:solidFill>
                  <a:srgbClr val="181818"/>
                </a:solidFill>
              </a:rPr>
              <a:t>sus</a:t>
            </a:r>
            <a:r>
              <a:rPr sz="4850" b="1" spc="-254" dirty="0">
                <a:solidFill>
                  <a:srgbClr val="181818"/>
                </a:solidFill>
              </a:rPr>
              <a:t> </a:t>
            </a:r>
            <a:r>
              <a:rPr sz="4850" b="1" spc="110" dirty="0">
                <a:solidFill>
                  <a:srgbClr val="181818"/>
                </a:solidFill>
              </a:rPr>
              <a:t>límites</a:t>
            </a:r>
            <a:endParaRPr sz="4850" b="1" dirty="0"/>
          </a:p>
        </p:txBody>
      </p:sp>
      <p:sp>
        <p:nvSpPr>
          <p:cNvPr id="13" name="object 13"/>
          <p:cNvSpPr txBox="1"/>
          <p:nvPr/>
        </p:nvSpPr>
        <p:spPr>
          <a:xfrm>
            <a:off x="860797" y="2654668"/>
            <a:ext cx="7859395" cy="157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2700">
              <a:lnSpc>
                <a:spcPct val="110900"/>
              </a:lnSpc>
              <a:spcBef>
                <a:spcPts val="110"/>
              </a:spcBef>
            </a:pPr>
            <a:r>
              <a:rPr sz="2950" dirty="0">
                <a:latin typeface="Arial MT"/>
                <a:cs typeface="Arial MT"/>
              </a:rPr>
              <a:t>Las</a:t>
            </a:r>
            <a:r>
              <a:rPr sz="2950" spc="8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APls</a:t>
            </a:r>
            <a:r>
              <a:rPr sz="2950" spc="-35" dirty="0">
                <a:latin typeface="Arial MT"/>
                <a:cs typeface="Arial MT"/>
              </a:rPr>
              <a:t> </a:t>
            </a:r>
            <a:r>
              <a:rPr sz="2950" spc="-155" dirty="0">
                <a:latin typeface="Arial MT"/>
                <a:cs typeface="Arial MT"/>
              </a:rPr>
              <a:t>REST</a:t>
            </a:r>
            <a:r>
              <a:rPr sz="2950" spc="12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han</a:t>
            </a:r>
            <a:r>
              <a:rPr sz="2950" spc="10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sido el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pilar</a:t>
            </a:r>
            <a:r>
              <a:rPr sz="2950" spc="15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de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la </a:t>
            </a:r>
            <a:r>
              <a:rPr sz="3100" spc="-30" dirty="0">
                <a:latin typeface="Arial MT"/>
                <a:cs typeface="Arial MT"/>
              </a:rPr>
              <a:t>comunicación</a:t>
            </a:r>
            <a:r>
              <a:rPr sz="3100" spc="1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frontend-</a:t>
            </a:r>
            <a:r>
              <a:rPr sz="3100" dirty="0">
                <a:latin typeface="Arial MT"/>
                <a:cs typeface="Arial MT"/>
              </a:rPr>
              <a:t>backend.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95" dirty="0">
                <a:latin typeface="Arial MT"/>
                <a:cs typeface="Arial MT"/>
              </a:rPr>
              <a:t>Son</a:t>
            </a:r>
            <a:r>
              <a:rPr sz="3100" spc="-1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simples </a:t>
            </a:r>
            <a:r>
              <a:rPr sz="3100" dirty="0">
                <a:latin typeface="Arial MT"/>
                <a:cs typeface="Arial MT"/>
              </a:rPr>
              <a:t>y</a:t>
            </a:r>
            <a:r>
              <a:rPr sz="3100" spc="-220" dirty="0">
                <a:latin typeface="Arial MT"/>
                <a:cs typeface="Arial MT"/>
              </a:rPr>
              <a:t> </a:t>
            </a:r>
            <a:r>
              <a:rPr sz="3100" spc="-30" dirty="0">
                <a:latin typeface="Arial MT"/>
                <a:cs typeface="Arial MT"/>
              </a:rPr>
              <a:t>funcionan.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Pero</a:t>
            </a:r>
            <a:r>
              <a:rPr sz="3100" spc="-135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a</a:t>
            </a:r>
            <a:r>
              <a:rPr sz="3100" spc="4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medida</a:t>
            </a:r>
            <a:r>
              <a:rPr sz="3100" dirty="0">
                <a:latin typeface="Arial MT"/>
                <a:cs typeface="Arial MT"/>
              </a:rPr>
              <a:t> que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las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0" dirty="0"/>
              <a:t>aplicaciones</a:t>
            </a:r>
            <a:r>
              <a:rPr spc="-5" dirty="0"/>
              <a:t> </a:t>
            </a:r>
            <a:r>
              <a:rPr spc="-20" dirty="0"/>
              <a:t>crecen,</a:t>
            </a:r>
            <a:r>
              <a:rPr spc="-195" dirty="0"/>
              <a:t> </a:t>
            </a:r>
            <a:r>
              <a:rPr spc="-50" dirty="0"/>
              <a:t>aparecen</a:t>
            </a:r>
            <a:r>
              <a:rPr spc="-95" dirty="0"/>
              <a:t> </a:t>
            </a:r>
            <a:r>
              <a:rPr spc="-10" dirty="0"/>
              <a:t>grietas.</a:t>
            </a:r>
          </a:p>
          <a:p>
            <a:pPr marL="582930" indent="-457200">
              <a:lnSpc>
                <a:spcPct val="100000"/>
              </a:lnSpc>
              <a:spcBef>
                <a:spcPts val="2480"/>
              </a:spcBef>
              <a:buFont typeface="Arial" panose="020B0604020202020204" pitchFamily="34" charset="0"/>
              <a:buChar char="•"/>
              <a:tabLst>
                <a:tab pos="593725" algn="l"/>
              </a:tabLst>
            </a:pPr>
            <a:r>
              <a:rPr sz="2850" dirty="0">
                <a:solidFill>
                  <a:srgbClr val="001838"/>
                </a:solidFill>
              </a:rPr>
              <a:t>	</a:t>
            </a:r>
            <a:r>
              <a:rPr sz="2850" spc="-25" dirty="0"/>
              <a:t>Fuerte</a:t>
            </a:r>
            <a:r>
              <a:rPr sz="2850" spc="-60" dirty="0"/>
              <a:t> </a:t>
            </a:r>
            <a:r>
              <a:rPr sz="2850" spc="-40" dirty="0"/>
              <a:t>acoplamiento</a:t>
            </a:r>
            <a:r>
              <a:rPr sz="2850" spc="50" dirty="0"/>
              <a:t> </a:t>
            </a:r>
            <a:r>
              <a:rPr sz="2850" dirty="0"/>
              <a:t>entre</a:t>
            </a:r>
            <a:r>
              <a:rPr sz="2850" spc="-190" dirty="0"/>
              <a:t> </a:t>
            </a:r>
            <a:r>
              <a:rPr sz="2850" dirty="0"/>
              <a:t>cliente</a:t>
            </a:r>
            <a:r>
              <a:rPr sz="2850" spc="-70" dirty="0"/>
              <a:t> </a:t>
            </a:r>
            <a:r>
              <a:rPr sz="2850" dirty="0"/>
              <a:t>y</a:t>
            </a:r>
            <a:r>
              <a:rPr sz="2850" spc="-75" dirty="0"/>
              <a:t> </a:t>
            </a:r>
            <a:r>
              <a:rPr sz="2850" spc="-10" dirty="0"/>
              <a:t>servidor.</a:t>
            </a:r>
            <a:endParaRPr sz="2850" dirty="0"/>
          </a:p>
          <a:p>
            <a:pPr marL="596265" marR="5080" indent="-471805">
              <a:lnSpc>
                <a:spcPct val="104500"/>
              </a:lnSpc>
              <a:spcBef>
                <a:spcPts val="1470"/>
              </a:spcBef>
              <a:buFont typeface="Arial" panose="020B0604020202020204" pitchFamily="34" charset="0"/>
              <a:buChar char="•"/>
              <a:tabLst>
                <a:tab pos="594995" algn="l"/>
                <a:tab pos="4992370" algn="l"/>
                <a:tab pos="5970270" algn="l"/>
              </a:tabLst>
            </a:pPr>
            <a:r>
              <a:rPr sz="2950" spc="-80" dirty="0" err="1"/>
              <a:t>Necesidad</a:t>
            </a:r>
            <a:r>
              <a:rPr sz="2950" spc="-100" dirty="0"/>
              <a:t> </a:t>
            </a:r>
            <a:r>
              <a:rPr sz="2950" spc="-50" dirty="0"/>
              <a:t>de</a:t>
            </a:r>
            <a:r>
              <a:rPr sz="2950" spc="-160" dirty="0"/>
              <a:t> </a:t>
            </a:r>
            <a:r>
              <a:rPr sz="2950" spc="-75" dirty="0"/>
              <a:t>versionado</a:t>
            </a:r>
            <a:r>
              <a:rPr sz="2950" spc="30" dirty="0"/>
              <a:t> </a:t>
            </a:r>
            <a:r>
              <a:rPr sz="2950" spc="-50" dirty="0"/>
              <a:t>(</a:t>
            </a:r>
            <a:r>
              <a:rPr sz="2950" dirty="0"/>
              <a:t>	/v1</a:t>
            </a:r>
            <a:r>
              <a:rPr sz="2950" spc="-25" dirty="0"/>
              <a:t> </a:t>
            </a:r>
            <a:r>
              <a:rPr sz="2950" spc="-50" dirty="0"/>
              <a:t>,</a:t>
            </a:r>
            <a:r>
              <a:rPr sz="2950" dirty="0"/>
              <a:t>	</a:t>
            </a:r>
            <a:r>
              <a:rPr sz="2950" spc="-10" dirty="0"/>
              <a:t>/v2”...)</a:t>
            </a:r>
            <a:r>
              <a:rPr sz="2950" spc="-125" dirty="0"/>
              <a:t> </a:t>
            </a:r>
            <a:r>
              <a:rPr sz="2950" spc="-114" dirty="0"/>
              <a:t>que </a:t>
            </a:r>
            <a:r>
              <a:rPr sz="2950" spc="-65" dirty="0"/>
              <a:t>complica</a:t>
            </a:r>
            <a:r>
              <a:rPr sz="2950" spc="-75" dirty="0"/>
              <a:t> </a:t>
            </a:r>
            <a:r>
              <a:rPr sz="2950" spc="-110" dirty="0"/>
              <a:t>el</a:t>
            </a:r>
            <a:r>
              <a:rPr sz="2950" spc="-100" dirty="0"/>
              <a:t> </a:t>
            </a:r>
            <a:r>
              <a:rPr sz="2950" spc="-10" dirty="0"/>
              <a:t>mantenimiento.</a:t>
            </a:r>
            <a:endParaRPr sz="2950" dirty="0"/>
          </a:p>
        </p:txBody>
      </p:sp>
      <p:sp>
        <p:nvSpPr>
          <p:cNvPr id="15" name="object 15"/>
          <p:cNvSpPr txBox="1"/>
          <p:nvPr/>
        </p:nvSpPr>
        <p:spPr>
          <a:xfrm>
            <a:off x="976343" y="6802614"/>
            <a:ext cx="7760970" cy="95059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83870" marR="5080" indent="-471805">
              <a:lnSpc>
                <a:spcPts val="3700"/>
              </a:lnSpc>
              <a:spcBef>
                <a:spcPts val="80"/>
              </a:spcBef>
              <a:buFont typeface="Arial" panose="020B0604020202020204" pitchFamily="34" charset="0"/>
              <a:buChar char="•"/>
              <a:tabLst>
                <a:tab pos="480059" algn="l"/>
              </a:tabLst>
            </a:pPr>
            <a:r>
              <a:rPr sz="2950" spc="-114" dirty="0" err="1">
                <a:latin typeface="Arial MT"/>
                <a:cs typeface="Arial MT"/>
              </a:rPr>
              <a:t>Diseñadas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spc="-65" dirty="0">
                <a:latin typeface="Arial MT"/>
                <a:cs typeface="Arial MT"/>
              </a:rPr>
              <a:t>antes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de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105" dirty="0">
                <a:latin typeface="Arial MT"/>
                <a:cs typeface="Arial MT"/>
              </a:rPr>
              <a:t>las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interfaces</a:t>
            </a:r>
            <a:r>
              <a:rPr sz="2950" spc="-90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modernas</a:t>
            </a:r>
            <a:r>
              <a:rPr sz="2950" spc="95" dirty="0">
                <a:latin typeface="Arial MT"/>
                <a:cs typeface="Arial MT"/>
              </a:rPr>
              <a:t> </a:t>
            </a:r>
            <a:r>
              <a:rPr sz="2950" spc="-75" dirty="0">
                <a:latin typeface="Arial MT"/>
                <a:cs typeface="Arial MT"/>
              </a:rPr>
              <a:t>y </a:t>
            </a:r>
            <a:r>
              <a:rPr sz="2950" spc="-25" dirty="0">
                <a:latin typeface="Arial MT"/>
                <a:cs typeface="Arial MT"/>
              </a:rPr>
              <a:t>dinámicas.</a:t>
            </a:r>
            <a:endParaRPr sz="2950" dirty="0">
              <a:latin typeface="Arial MT"/>
              <a:cs typeface="Arial MT"/>
            </a:endParaRPr>
          </a:p>
        </p:txBody>
      </p:sp>
      <p:pic>
        <p:nvPicPr>
          <p:cNvPr id="21" name="Imagen 20" descr="Diagrama&#10;&#10;El contenido generado por IA puede ser incorrecto.">
            <a:extLst>
              <a:ext uri="{FF2B5EF4-FFF2-40B4-BE49-F238E27FC236}">
                <a16:creationId xmlns:a16="http://schemas.microsoft.com/office/drawing/2014/main" id="{2042844A-1F33-DCC3-D75A-501EA3ABA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719" y="2649413"/>
            <a:ext cx="5974248" cy="4705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672589" marR="5080" indent="-1660525">
              <a:lnSpc>
                <a:spcPts val="4100"/>
              </a:lnSpc>
              <a:spcBef>
                <a:spcPts val="705"/>
              </a:spcBef>
            </a:pP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3850" spc="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idea</a:t>
            </a:r>
            <a:r>
              <a:rPr sz="385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principal</a:t>
            </a:r>
            <a:r>
              <a:rPr sz="3850" spc="2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detrás</a:t>
            </a:r>
            <a:r>
              <a:rPr sz="3850" spc="2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spc="75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3850" spc="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GraphQL</a:t>
            </a:r>
            <a:r>
              <a:rPr sz="3850" spc="3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spc="155" dirty="0">
                <a:solidFill>
                  <a:srgbClr val="000000"/>
                </a:solidFill>
                <a:latin typeface="Calibri"/>
                <a:cs typeface="Calibri"/>
              </a:rPr>
              <a:t>es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sencilla</a:t>
            </a:r>
            <a:r>
              <a:rPr sz="3850" spc="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000000"/>
                </a:solidFill>
                <a:latin typeface="Calibri"/>
                <a:cs typeface="Calibri"/>
              </a:rPr>
              <a:t>pero</a:t>
            </a:r>
            <a:r>
              <a:rPr sz="3850" spc="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850" spc="-10" dirty="0">
                <a:solidFill>
                  <a:srgbClr val="000000"/>
                </a:solidFill>
                <a:latin typeface="Calibri"/>
                <a:cs typeface="Calibri"/>
              </a:rPr>
              <a:t>poderosa:</a:t>
            </a:r>
            <a:endParaRPr sz="38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0426" y="3352447"/>
            <a:ext cx="15235555" cy="4435573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 marR="5080" indent="42545" algn="ctr">
              <a:lnSpc>
                <a:spcPct val="89900"/>
              </a:lnSpc>
              <a:spcBef>
                <a:spcPts val="1270"/>
              </a:spcBef>
            </a:pPr>
            <a:r>
              <a:rPr lang="es-ES" sz="9650" b="1" spc="-335" dirty="0">
                <a:solidFill>
                  <a:srgbClr val="151515"/>
                </a:solidFill>
                <a:latin typeface="Arial MT"/>
                <a:cs typeface="Arial MT"/>
              </a:rPr>
              <a:t>"</a:t>
            </a:r>
            <a:r>
              <a:rPr sz="9650" b="1" spc="-335" dirty="0">
                <a:solidFill>
                  <a:srgbClr val="151515"/>
                </a:solidFill>
                <a:latin typeface="Arial MT"/>
                <a:cs typeface="Arial MT"/>
              </a:rPr>
              <a:t>Dar</a:t>
            </a:r>
            <a:r>
              <a:rPr sz="9650" b="1" spc="-30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9650" b="1" spc="-200" dirty="0">
                <a:solidFill>
                  <a:srgbClr val="1C1C1C"/>
                </a:solidFill>
                <a:latin typeface="Arial MT"/>
                <a:cs typeface="Arial MT"/>
              </a:rPr>
              <a:t>al</a:t>
            </a:r>
            <a:r>
              <a:rPr sz="9650" b="1" spc="-84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9650" b="1" spc="-75" dirty="0">
                <a:solidFill>
                  <a:srgbClr val="131313"/>
                </a:solidFill>
                <a:latin typeface="Arial MT"/>
                <a:cs typeface="Arial MT"/>
              </a:rPr>
              <a:t>cliente</a:t>
            </a:r>
            <a:r>
              <a:rPr sz="9650" b="1" spc="-5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9650" b="1" spc="-125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9650" b="1" spc="-7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650" b="1" spc="-10" dirty="0">
                <a:solidFill>
                  <a:srgbClr val="0F0F0F"/>
                </a:solidFill>
                <a:latin typeface="Arial MT"/>
                <a:cs typeface="Arial MT"/>
              </a:rPr>
              <a:t>control </a:t>
            </a:r>
            <a:r>
              <a:rPr sz="9500" b="1" spc="-250" dirty="0">
                <a:solidFill>
                  <a:srgbClr val="161616"/>
                </a:solidFill>
                <a:latin typeface="Arial MT"/>
                <a:cs typeface="Arial MT"/>
              </a:rPr>
              <a:t>sobre</a:t>
            </a:r>
            <a:r>
              <a:rPr sz="9500" b="1" spc="-459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0" b="1" spc="-85" dirty="0">
                <a:solidFill>
                  <a:srgbClr val="131313"/>
                </a:solidFill>
                <a:latin typeface="Arial MT"/>
                <a:cs typeface="Arial MT"/>
              </a:rPr>
              <a:t>los</a:t>
            </a:r>
            <a:r>
              <a:rPr sz="9500" b="1" spc="-5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9500" b="1" spc="-145" dirty="0">
                <a:solidFill>
                  <a:srgbClr val="161616"/>
                </a:solidFill>
                <a:latin typeface="Arial MT"/>
                <a:cs typeface="Arial MT"/>
              </a:rPr>
              <a:t>datos</a:t>
            </a:r>
            <a:r>
              <a:rPr sz="9500" b="1" spc="-43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9500" b="1" spc="-325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9500" b="1" spc="-5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500" b="1" spc="-210" dirty="0" err="1">
                <a:solidFill>
                  <a:srgbClr val="0F0F0F"/>
                </a:solidFill>
                <a:latin typeface="Arial MT"/>
                <a:cs typeface="Arial MT"/>
              </a:rPr>
              <a:t>necesita</a:t>
            </a:r>
            <a:r>
              <a:rPr sz="9500" b="1" spc="-210" dirty="0">
                <a:solidFill>
                  <a:srgbClr val="0F0F0F"/>
                </a:solidFill>
                <a:latin typeface="Arial MT"/>
                <a:cs typeface="Arial MT"/>
              </a:rPr>
              <a:t>.</a:t>
            </a:r>
            <a:r>
              <a:rPr lang="es-ES" sz="11700" b="1" spc="-335" dirty="0">
                <a:solidFill>
                  <a:srgbClr val="151515"/>
                </a:solidFill>
                <a:latin typeface="Arial MT"/>
                <a:cs typeface="Arial MT"/>
              </a:rPr>
              <a:t> "</a:t>
            </a:r>
            <a:endParaRPr sz="117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4241800"/>
            <a:ext cx="15760700" cy="1993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961374"/>
          </a:xfrm>
          <a:prstGeom prst="rect">
            <a:avLst/>
          </a:prstGeom>
        </p:spPr>
        <p:txBody>
          <a:bodyPr vert="horz" wrap="square" lIns="0" tIns="212936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10"/>
              </a:spcBef>
            </a:pPr>
            <a:r>
              <a:rPr sz="4850" b="1" spc="-65" dirty="0">
                <a:solidFill>
                  <a:srgbClr val="151515"/>
                </a:solidFill>
              </a:rPr>
              <a:t>¿Qué</a:t>
            </a:r>
            <a:r>
              <a:rPr sz="4850" b="1" spc="-275" dirty="0">
                <a:solidFill>
                  <a:srgbClr val="151515"/>
                </a:solidFill>
              </a:rPr>
              <a:t> </a:t>
            </a:r>
            <a:r>
              <a:rPr sz="4850" b="1" spc="75" dirty="0">
                <a:solidFill>
                  <a:srgbClr val="161616"/>
                </a:solidFill>
              </a:rPr>
              <a:t>es</a:t>
            </a:r>
            <a:r>
              <a:rPr sz="4850" b="1" spc="-335" dirty="0">
                <a:solidFill>
                  <a:srgbClr val="161616"/>
                </a:solidFill>
              </a:rPr>
              <a:t> </a:t>
            </a:r>
            <a:r>
              <a:rPr sz="4850" b="1" dirty="0">
                <a:solidFill>
                  <a:srgbClr val="131313"/>
                </a:solidFill>
              </a:rPr>
              <a:t>GraphQL</a:t>
            </a:r>
            <a:r>
              <a:rPr sz="4850" b="1" spc="-160" dirty="0">
                <a:solidFill>
                  <a:srgbClr val="131313"/>
                </a:solidFill>
              </a:rPr>
              <a:t> </a:t>
            </a:r>
            <a:r>
              <a:rPr sz="4850" b="1" spc="60" dirty="0">
                <a:solidFill>
                  <a:srgbClr val="131313"/>
                </a:solidFill>
              </a:rPr>
              <a:t>exactamente?</a:t>
            </a:r>
            <a:endParaRPr sz="4850" b="1" dirty="0"/>
          </a:p>
        </p:txBody>
      </p:sp>
      <p:sp>
        <p:nvSpPr>
          <p:cNvPr id="4" name="object 4"/>
          <p:cNvSpPr txBox="1"/>
          <p:nvPr/>
        </p:nvSpPr>
        <p:spPr>
          <a:xfrm>
            <a:off x="854445" y="2165702"/>
            <a:ext cx="14243685" cy="12344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indent="5715">
              <a:lnSpc>
                <a:spcPts val="4600"/>
              </a:lnSpc>
              <a:spcBef>
                <a:spcPts val="515"/>
              </a:spcBef>
            </a:pPr>
            <a:r>
              <a:rPr sz="4100" spc="-360" dirty="0">
                <a:latin typeface="Arial MT"/>
                <a:cs typeface="Arial MT"/>
              </a:rPr>
              <a:t>Es</a:t>
            </a:r>
            <a:r>
              <a:rPr sz="4100" spc="7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un</a:t>
            </a:r>
            <a:r>
              <a:rPr sz="4100" spc="-175" dirty="0">
                <a:latin typeface="Arial MT"/>
                <a:cs typeface="Arial MT"/>
              </a:rPr>
              <a:t> </a:t>
            </a:r>
            <a:r>
              <a:rPr sz="4100" b="1" dirty="0">
                <a:latin typeface="Arial MT"/>
                <a:cs typeface="Arial MT"/>
              </a:rPr>
              <a:t>lenguaje</a:t>
            </a:r>
            <a:r>
              <a:rPr sz="4100" b="1" spc="-120" dirty="0">
                <a:latin typeface="Arial MT"/>
                <a:cs typeface="Arial MT"/>
              </a:rPr>
              <a:t> </a:t>
            </a:r>
            <a:r>
              <a:rPr sz="4100" b="1" dirty="0">
                <a:latin typeface="Arial MT"/>
                <a:cs typeface="Arial MT"/>
              </a:rPr>
              <a:t>de</a:t>
            </a:r>
            <a:r>
              <a:rPr sz="4100" b="1" spc="-270" dirty="0">
                <a:latin typeface="Arial MT"/>
                <a:cs typeface="Arial MT"/>
              </a:rPr>
              <a:t> </a:t>
            </a:r>
            <a:r>
              <a:rPr sz="4100" b="1" dirty="0">
                <a:latin typeface="Arial MT"/>
                <a:cs typeface="Arial MT"/>
              </a:rPr>
              <a:t>consultas</a:t>
            </a:r>
            <a:r>
              <a:rPr sz="4100" spc="15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y</a:t>
            </a:r>
            <a:r>
              <a:rPr sz="4100" spc="-114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un</a:t>
            </a:r>
            <a:r>
              <a:rPr sz="4100" spc="-85" dirty="0">
                <a:latin typeface="Arial MT"/>
                <a:cs typeface="Arial MT"/>
              </a:rPr>
              <a:t> </a:t>
            </a:r>
            <a:r>
              <a:rPr sz="4100" b="1" spc="50" dirty="0">
                <a:latin typeface="Arial MT"/>
                <a:cs typeface="Arial MT"/>
              </a:rPr>
              <a:t>runtime</a:t>
            </a:r>
            <a:r>
              <a:rPr sz="4100" spc="-3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para</a:t>
            </a:r>
            <a:r>
              <a:rPr sz="4100" spc="110" dirty="0">
                <a:latin typeface="Arial MT"/>
                <a:cs typeface="Arial MT"/>
              </a:rPr>
              <a:t> </a:t>
            </a:r>
            <a:r>
              <a:rPr sz="4100" spc="-180" dirty="0">
                <a:latin typeface="Arial MT"/>
                <a:cs typeface="Arial MT"/>
              </a:rPr>
              <a:t>APIs.</a:t>
            </a:r>
            <a:r>
              <a:rPr sz="4100" spc="5" dirty="0">
                <a:latin typeface="Arial MT"/>
                <a:cs typeface="Arial MT"/>
              </a:rPr>
              <a:t> </a:t>
            </a:r>
            <a:r>
              <a:rPr sz="4100" spc="-65" dirty="0">
                <a:latin typeface="Arial MT"/>
                <a:cs typeface="Arial MT"/>
              </a:rPr>
              <a:t>Una</a:t>
            </a:r>
            <a:r>
              <a:rPr sz="4100" spc="75" dirty="0">
                <a:latin typeface="Arial MT"/>
                <a:cs typeface="Arial MT"/>
              </a:rPr>
              <a:t> </a:t>
            </a:r>
            <a:r>
              <a:rPr sz="4100" spc="-30" dirty="0">
                <a:latin typeface="Arial MT"/>
                <a:cs typeface="Arial MT"/>
              </a:rPr>
              <a:t>capa </a:t>
            </a:r>
            <a:r>
              <a:rPr sz="4100" dirty="0">
                <a:latin typeface="Arial MT"/>
                <a:cs typeface="Arial MT"/>
              </a:rPr>
              <a:t>intermedia</a:t>
            </a:r>
            <a:r>
              <a:rPr sz="4100" spc="19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entre</a:t>
            </a:r>
            <a:r>
              <a:rPr sz="4100" spc="-5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el</a:t>
            </a:r>
            <a:r>
              <a:rPr sz="4100" spc="-90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cliente</a:t>
            </a:r>
            <a:r>
              <a:rPr sz="4100" spc="40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y</a:t>
            </a:r>
            <a:r>
              <a:rPr sz="4100" spc="-8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tu</a:t>
            </a:r>
            <a:r>
              <a:rPr sz="4100" spc="-285" dirty="0">
                <a:latin typeface="Arial MT"/>
                <a:cs typeface="Arial MT"/>
              </a:rPr>
              <a:t> </a:t>
            </a:r>
            <a:r>
              <a:rPr sz="4100" spc="-20" dirty="0">
                <a:latin typeface="Arial MT"/>
                <a:cs typeface="Arial MT"/>
              </a:rPr>
              <a:t>Iógica</a:t>
            </a:r>
            <a:r>
              <a:rPr sz="4100" spc="114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de</a:t>
            </a:r>
            <a:r>
              <a:rPr sz="4100" spc="-145" dirty="0">
                <a:latin typeface="Arial MT"/>
                <a:cs typeface="Arial MT"/>
              </a:rPr>
              <a:t> </a:t>
            </a:r>
            <a:r>
              <a:rPr sz="4100" spc="-10" dirty="0">
                <a:latin typeface="Arial MT"/>
                <a:cs typeface="Arial MT"/>
              </a:rPr>
              <a:t>negocio.</a:t>
            </a:r>
            <a:endParaRPr sz="41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90908" y="4961113"/>
            <a:ext cx="112331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75" dirty="0">
                <a:latin typeface="Arial MT"/>
                <a:cs typeface="Arial MT"/>
              </a:rPr>
              <a:t>Cliente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8416" y="4911019"/>
            <a:ext cx="298005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35" dirty="0">
                <a:latin typeface="Arial MT"/>
                <a:cs typeface="Arial MT"/>
              </a:rPr>
              <a:t>Capa</a:t>
            </a:r>
            <a:r>
              <a:rPr sz="3650" spc="-100" dirty="0">
                <a:latin typeface="Arial MT"/>
                <a:cs typeface="Arial MT"/>
              </a:rPr>
              <a:t> </a:t>
            </a:r>
            <a:r>
              <a:rPr sz="3650" spc="-114" dirty="0">
                <a:latin typeface="Arial MT"/>
                <a:cs typeface="Arial MT"/>
              </a:rPr>
              <a:t>GraphQL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528" y="6831541"/>
            <a:ext cx="12764871" cy="22833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4">
              <a:lnSpc>
                <a:spcPts val="4545"/>
              </a:lnSpc>
              <a:spcBef>
                <a:spcPts val="105"/>
              </a:spcBef>
            </a:pPr>
            <a:r>
              <a:rPr sz="3950" spc="-285" dirty="0">
                <a:latin typeface="Arial MT"/>
                <a:cs typeface="Arial MT"/>
              </a:rPr>
              <a:t>N</a:t>
            </a:r>
            <a:r>
              <a:rPr lang="es-ES" sz="3950" spc="-285" dirty="0">
                <a:latin typeface="Arial MT"/>
                <a:cs typeface="Arial MT"/>
              </a:rPr>
              <a:t>o</a:t>
            </a:r>
            <a:r>
              <a:rPr sz="3950" spc="-10" dirty="0">
                <a:latin typeface="Arial MT"/>
                <a:cs typeface="Arial MT"/>
              </a:rPr>
              <a:t>...</a:t>
            </a:r>
            <a:endParaRPr sz="3950" dirty="0">
              <a:latin typeface="Arial MT"/>
              <a:cs typeface="Arial MT"/>
            </a:endParaRPr>
          </a:p>
          <a:p>
            <a:pPr marL="1284605" marR="2730500" indent="-571500">
              <a:lnSpc>
                <a:spcPts val="4200"/>
              </a:lnSpc>
              <a:spcBef>
                <a:spcPts val="245"/>
              </a:spcBef>
              <a:buFont typeface="Arial" panose="020B0604020202020204" pitchFamily="34" charset="0"/>
              <a:buChar char="•"/>
            </a:pPr>
            <a:r>
              <a:rPr sz="3800" spc="-35" dirty="0">
                <a:latin typeface="Arial MT"/>
                <a:cs typeface="Arial MT"/>
              </a:rPr>
              <a:t>es</a:t>
            </a:r>
            <a:r>
              <a:rPr sz="3800" spc="-185" dirty="0">
                <a:latin typeface="Arial MT"/>
                <a:cs typeface="Arial MT"/>
              </a:rPr>
              <a:t> </a:t>
            </a:r>
            <a:r>
              <a:rPr sz="3800" spc="-140" dirty="0">
                <a:latin typeface="Arial MT"/>
                <a:cs typeface="Arial MT"/>
              </a:rPr>
              <a:t>una</a:t>
            </a:r>
            <a:r>
              <a:rPr sz="3800" spc="-105" dirty="0">
                <a:latin typeface="Arial MT"/>
                <a:cs typeface="Arial MT"/>
              </a:rPr>
              <a:t> </a:t>
            </a:r>
            <a:r>
              <a:rPr sz="3800" spc="-90" dirty="0">
                <a:latin typeface="Arial MT"/>
                <a:cs typeface="Arial MT"/>
              </a:rPr>
              <a:t>base</a:t>
            </a:r>
            <a:r>
              <a:rPr sz="3800" spc="-17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de</a:t>
            </a:r>
            <a:r>
              <a:rPr sz="3800" spc="-220" dirty="0">
                <a:latin typeface="Arial MT"/>
                <a:cs typeface="Arial MT"/>
              </a:rPr>
              <a:t> </a:t>
            </a:r>
            <a:r>
              <a:rPr sz="3800" spc="-10" dirty="0" err="1">
                <a:latin typeface="Arial MT"/>
                <a:cs typeface="Arial MT"/>
              </a:rPr>
              <a:t>datos</a:t>
            </a:r>
            <a:r>
              <a:rPr sz="3800" spc="-10" dirty="0">
                <a:latin typeface="Arial MT"/>
                <a:cs typeface="Arial MT"/>
              </a:rPr>
              <a:t>.</a:t>
            </a:r>
            <a:endParaRPr lang="es-ES" sz="3800" spc="-10" dirty="0">
              <a:latin typeface="Arial MT"/>
              <a:cs typeface="Arial MT"/>
            </a:endParaRPr>
          </a:p>
          <a:p>
            <a:pPr marL="1284605" marR="2730500" indent="-571500">
              <a:lnSpc>
                <a:spcPts val="4200"/>
              </a:lnSpc>
              <a:spcBef>
                <a:spcPts val="245"/>
              </a:spcBef>
              <a:buFont typeface="Arial" panose="020B0604020202020204" pitchFamily="34" charset="0"/>
              <a:buChar char="•"/>
            </a:pPr>
            <a:r>
              <a:rPr sz="3800" spc="-110" dirty="0" err="1">
                <a:latin typeface="Arial MT"/>
                <a:cs typeface="Arial MT"/>
              </a:rPr>
              <a:t>reemplaza</a:t>
            </a:r>
            <a:r>
              <a:rPr sz="3800" spc="14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tu</a:t>
            </a:r>
            <a:r>
              <a:rPr sz="3800" spc="-210" dirty="0">
                <a:latin typeface="Arial MT"/>
                <a:cs typeface="Arial MT"/>
              </a:rPr>
              <a:t> </a:t>
            </a:r>
            <a:r>
              <a:rPr sz="3800" spc="-75" dirty="0">
                <a:latin typeface="Arial MT"/>
                <a:cs typeface="Arial MT"/>
              </a:rPr>
              <a:t>backend.</a:t>
            </a:r>
            <a:endParaRPr lang="es-ES" sz="3800" dirty="0">
              <a:latin typeface="Arial MT"/>
              <a:cs typeface="Arial MT"/>
            </a:endParaRPr>
          </a:p>
          <a:p>
            <a:pPr marL="1284605" marR="2730500" indent="-571500">
              <a:lnSpc>
                <a:spcPts val="4200"/>
              </a:lnSpc>
              <a:spcBef>
                <a:spcPts val="245"/>
              </a:spcBef>
              <a:buFont typeface="Arial" panose="020B0604020202020204" pitchFamily="34" charset="0"/>
              <a:buChar char="•"/>
            </a:pPr>
            <a:r>
              <a:rPr sz="3850" spc="-30" dirty="0">
                <a:latin typeface="Arial MT"/>
                <a:cs typeface="Arial MT"/>
              </a:rPr>
              <a:t>define</a:t>
            </a:r>
            <a:r>
              <a:rPr sz="3850" spc="-240" dirty="0">
                <a:latin typeface="Arial MT"/>
                <a:cs typeface="Arial MT"/>
              </a:rPr>
              <a:t> </a:t>
            </a:r>
            <a:r>
              <a:rPr sz="3850" spc="-100" dirty="0">
                <a:latin typeface="Arial MT"/>
                <a:cs typeface="Arial MT"/>
              </a:rPr>
              <a:t>cómo</a:t>
            </a:r>
            <a:r>
              <a:rPr sz="3850" spc="-170" dirty="0">
                <a:latin typeface="Arial MT"/>
                <a:cs typeface="Arial MT"/>
              </a:rPr>
              <a:t> </a:t>
            </a:r>
            <a:r>
              <a:rPr sz="3850" spc="-110" dirty="0">
                <a:latin typeface="Arial MT"/>
                <a:cs typeface="Arial MT"/>
              </a:rPr>
              <a:t>guardar</a:t>
            </a:r>
            <a:r>
              <a:rPr sz="3850" spc="-35" dirty="0">
                <a:latin typeface="Arial MT"/>
                <a:cs typeface="Arial MT"/>
              </a:rPr>
              <a:t> </a:t>
            </a:r>
            <a:r>
              <a:rPr sz="3850" spc="-260" dirty="0">
                <a:latin typeface="Arial MT"/>
                <a:cs typeface="Arial MT"/>
              </a:rPr>
              <a:t>la</a:t>
            </a:r>
            <a:r>
              <a:rPr sz="3850" spc="-10" dirty="0">
                <a:latin typeface="Arial MT"/>
                <a:cs typeface="Arial MT"/>
              </a:rPr>
              <a:t> </a:t>
            </a:r>
            <a:r>
              <a:rPr sz="3850" spc="-70" dirty="0">
                <a:latin typeface="Arial MT"/>
                <a:cs typeface="Arial MT"/>
              </a:rPr>
              <a:t>información.</a:t>
            </a:r>
            <a:endParaRPr sz="38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2607" y="4775552"/>
            <a:ext cx="3212465" cy="8661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12725" marR="5080" indent="-200025">
              <a:lnSpc>
                <a:spcPts val="3200"/>
              </a:lnSpc>
              <a:spcBef>
                <a:spcPts val="385"/>
              </a:spcBef>
            </a:pPr>
            <a:r>
              <a:rPr sz="2850" spc="-10" dirty="0">
                <a:latin typeface="Arial MT"/>
                <a:cs typeface="Arial MT"/>
              </a:rPr>
              <a:t>Lógica</a:t>
            </a:r>
            <a:r>
              <a:rPr sz="2850" spc="-7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de</a:t>
            </a:r>
            <a:r>
              <a:rPr sz="2850" spc="-20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Negocio</a:t>
            </a:r>
            <a:r>
              <a:rPr sz="2850" spc="-25" dirty="0">
                <a:latin typeface="Arial MT"/>
                <a:cs typeface="Arial MT"/>
              </a:rPr>
              <a:t> </a:t>
            </a:r>
            <a:r>
              <a:rPr sz="2850" spc="-50" dirty="0">
                <a:latin typeface="Arial MT"/>
                <a:cs typeface="Arial MT"/>
              </a:rPr>
              <a:t>/ </a:t>
            </a:r>
            <a:r>
              <a:rPr sz="2850" spc="-35" dirty="0">
                <a:latin typeface="Arial MT"/>
                <a:cs typeface="Arial MT"/>
              </a:rPr>
              <a:t>Fuentes</a:t>
            </a:r>
            <a:r>
              <a:rPr sz="2850" spc="-7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de</a:t>
            </a:r>
            <a:r>
              <a:rPr sz="2850" spc="-15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Datos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2451100"/>
            <a:ext cx="1333500" cy="1485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4800" y="2451100"/>
            <a:ext cx="1473200" cy="1485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-254000" y="287668"/>
            <a:ext cx="17489791" cy="965363"/>
          </a:xfrm>
          <a:prstGeom prst="rect">
            <a:avLst/>
          </a:prstGeom>
        </p:spPr>
        <p:txBody>
          <a:bodyPr vert="horz" wrap="square" lIns="0" tIns="194027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lang="es-ES" sz="5000" b="1" spc="130" dirty="0">
                <a:solidFill>
                  <a:srgbClr val="111111"/>
                </a:solidFill>
              </a:rPr>
              <a:t>El </a:t>
            </a:r>
            <a:r>
              <a:rPr sz="5000" b="1" spc="130" dirty="0" err="1">
                <a:solidFill>
                  <a:srgbClr val="111111"/>
                </a:solidFill>
              </a:rPr>
              <a:t>cambio</a:t>
            </a:r>
            <a:r>
              <a:rPr sz="5000" b="1" spc="130" dirty="0">
                <a:solidFill>
                  <a:srgbClr val="111111"/>
                </a:solidFill>
              </a:rPr>
              <a:t> </a:t>
            </a:r>
            <a:r>
              <a:rPr sz="5000" b="1" spc="135" dirty="0">
                <a:solidFill>
                  <a:srgbClr val="0E0E0E"/>
                </a:solidFill>
              </a:rPr>
              <a:t>fundamental:</a:t>
            </a:r>
            <a:r>
              <a:rPr sz="5000" b="1" spc="-25" dirty="0">
                <a:solidFill>
                  <a:srgbClr val="0E0E0E"/>
                </a:solidFill>
              </a:rPr>
              <a:t> </a:t>
            </a:r>
            <a:r>
              <a:rPr sz="5000" b="1" dirty="0">
                <a:solidFill>
                  <a:srgbClr val="0F0F0F"/>
                </a:solidFill>
              </a:rPr>
              <a:t>De</a:t>
            </a:r>
            <a:r>
              <a:rPr sz="5000" b="1" spc="-190" dirty="0">
                <a:solidFill>
                  <a:srgbClr val="0F0F0F"/>
                </a:solidFill>
              </a:rPr>
              <a:t> </a:t>
            </a:r>
            <a:r>
              <a:rPr sz="5000" b="1" spc="90" dirty="0">
                <a:solidFill>
                  <a:srgbClr val="161616"/>
                </a:solidFill>
              </a:rPr>
              <a:t>la</a:t>
            </a:r>
            <a:r>
              <a:rPr sz="5000" b="1" spc="-280" dirty="0">
                <a:solidFill>
                  <a:srgbClr val="161616"/>
                </a:solidFill>
              </a:rPr>
              <a:t> </a:t>
            </a:r>
            <a:r>
              <a:rPr sz="5000" b="1" spc="145" dirty="0">
                <a:solidFill>
                  <a:srgbClr val="131313"/>
                </a:solidFill>
              </a:rPr>
              <a:t>rigidez</a:t>
            </a:r>
            <a:r>
              <a:rPr sz="5000" b="1" spc="90" dirty="0">
                <a:solidFill>
                  <a:srgbClr val="131313"/>
                </a:solidFill>
              </a:rPr>
              <a:t> </a:t>
            </a:r>
            <a:r>
              <a:rPr sz="5000" b="1" dirty="0">
                <a:solidFill>
                  <a:srgbClr val="111111"/>
                </a:solidFill>
              </a:rPr>
              <a:t>a</a:t>
            </a:r>
            <a:r>
              <a:rPr sz="5000" b="1" spc="-190" dirty="0">
                <a:solidFill>
                  <a:srgbClr val="111111"/>
                </a:solidFill>
              </a:rPr>
              <a:t> </a:t>
            </a:r>
            <a:r>
              <a:rPr sz="5000" b="1" dirty="0">
                <a:solidFill>
                  <a:srgbClr val="131313"/>
                </a:solidFill>
              </a:rPr>
              <a:t>la</a:t>
            </a:r>
            <a:r>
              <a:rPr lang="es-ES" sz="5000" b="1" spc="-85" dirty="0">
                <a:solidFill>
                  <a:srgbClr val="131313"/>
                </a:solidFill>
              </a:rPr>
              <a:t> </a:t>
            </a:r>
            <a:r>
              <a:rPr sz="5000" b="1" spc="155" dirty="0" err="1">
                <a:solidFill>
                  <a:srgbClr val="111111"/>
                </a:solidFill>
              </a:rPr>
              <a:t>flexibilidad</a:t>
            </a:r>
            <a:endParaRPr sz="5000" b="1" dirty="0"/>
          </a:p>
        </p:txBody>
      </p:sp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xfrm>
            <a:off x="863600" y="3937000"/>
            <a:ext cx="7134859" cy="4358886"/>
          </a:xfrm>
          <a:prstGeom prst="rect">
            <a:avLst/>
          </a:prstGeom>
        </p:spPr>
        <p:txBody>
          <a:bodyPr vert="horz" wrap="square" lIns="0" tIns="306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lang="es-ES" b="1" spc="-20" dirty="0"/>
              <a:t>REST</a:t>
            </a:r>
            <a:endParaRPr lang="es-ES" sz="4100" b="1" spc="-20" dirty="0"/>
          </a:p>
          <a:p>
            <a:pPr marL="12700" algn="l">
              <a:lnSpc>
                <a:spcPct val="100000"/>
              </a:lnSpc>
              <a:spcBef>
                <a:spcPts val="2410"/>
              </a:spcBef>
            </a:pPr>
            <a:r>
              <a:rPr lang="es-ES" sz="4100" dirty="0"/>
              <a:t>     Múltiples</a:t>
            </a:r>
            <a:r>
              <a:rPr lang="es-ES" sz="4100" spc="-55" dirty="0"/>
              <a:t> </a:t>
            </a:r>
            <a:r>
              <a:rPr lang="es-ES" sz="4100" dirty="0" err="1"/>
              <a:t>endpoints</a:t>
            </a:r>
            <a:r>
              <a:rPr lang="es-ES" sz="4100" spc="90" dirty="0"/>
              <a:t> </a:t>
            </a:r>
            <a:r>
              <a:rPr lang="es-ES" sz="4100" spc="-10" dirty="0"/>
              <a:t>(”/</a:t>
            </a:r>
            <a:r>
              <a:rPr lang="es-ES" sz="4100" spc="-10" dirty="0" err="1"/>
              <a:t>users</a:t>
            </a:r>
            <a:endParaRPr lang="es-ES" sz="4100" dirty="0"/>
          </a:p>
          <a:p>
            <a:pPr marL="701675" algn="l">
              <a:lnSpc>
                <a:spcPts val="4690"/>
              </a:lnSpc>
              <a:tabLst>
                <a:tab pos="1137285" algn="l"/>
              </a:tabLst>
            </a:pPr>
            <a:r>
              <a:rPr sz="4000" spc="-50" dirty="0"/>
              <a:t>,</a:t>
            </a:r>
            <a:r>
              <a:rPr sz="4000" dirty="0"/>
              <a:t>	</a:t>
            </a:r>
            <a:r>
              <a:rPr sz="4000" spc="55" dirty="0"/>
              <a:t>/orders”</a:t>
            </a:r>
            <a:r>
              <a:rPr lang="es-ES" sz="4000" spc="55" dirty="0"/>
              <a:t>).</a:t>
            </a:r>
          </a:p>
          <a:p>
            <a:pPr marL="701675" algn="l">
              <a:lnSpc>
                <a:spcPts val="4690"/>
              </a:lnSpc>
              <a:tabLst>
                <a:tab pos="1137285" algn="l"/>
              </a:tabLst>
            </a:pPr>
            <a:r>
              <a:rPr lang="es-ES" sz="4100" spc="-80" dirty="0"/>
              <a:t>Respuesta</a:t>
            </a:r>
            <a:r>
              <a:rPr lang="es-ES" sz="4100" spc="155" dirty="0"/>
              <a:t> </a:t>
            </a:r>
            <a:r>
              <a:rPr lang="es-ES" sz="4100" dirty="0"/>
              <a:t>fija</a:t>
            </a:r>
            <a:r>
              <a:rPr lang="es-ES" sz="4100" spc="-120" dirty="0"/>
              <a:t> </a:t>
            </a:r>
            <a:r>
              <a:rPr lang="es-ES" sz="4100" dirty="0"/>
              <a:t>y</a:t>
            </a:r>
            <a:r>
              <a:rPr lang="es-ES" sz="4100" spc="-114" dirty="0"/>
              <a:t> </a:t>
            </a:r>
            <a:r>
              <a:rPr lang="es-ES" sz="4100" spc="-10" dirty="0"/>
              <a:t>versionada.</a:t>
            </a:r>
            <a:endParaRPr sz="4100" dirty="0"/>
          </a:p>
          <a:p>
            <a:pPr marL="713740" marR="1350645" algn="l">
              <a:lnSpc>
                <a:spcPts val="4650"/>
              </a:lnSpc>
            </a:pPr>
            <a:r>
              <a:rPr sz="4100" spc="-315" dirty="0"/>
              <a:t>El</a:t>
            </a:r>
            <a:r>
              <a:rPr sz="4100" spc="30" dirty="0"/>
              <a:t> </a:t>
            </a:r>
            <a:r>
              <a:rPr sz="4100" dirty="0"/>
              <a:t>servidor</a:t>
            </a:r>
            <a:r>
              <a:rPr sz="4100" spc="60" dirty="0"/>
              <a:t> </a:t>
            </a:r>
            <a:r>
              <a:rPr sz="4100" dirty="0"/>
              <a:t>decide</a:t>
            </a:r>
            <a:r>
              <a:rPr sz="4100" spc="40" dirty="0"/>
              <a:t> </a:t>
            </a:r>
            <a:r>
              <a:rPr sz="4100" spc="-75" dirty="0" err="1"/>
              <a:t>qué</a:t>
            </a:r>
            <a:r>
              <a:rPr sz="4100" spc="-75" dirty="0"/>
              <a:t> </a:t>
            </a:r>
            <a:r>
              <a:rPr sz="4100" spc="-10" dirty="0"/>
              <a:t>devuelve</a:t>
            </a:r>
            <a:endParaRPr sz="4100" dirty="0"/>
          </a:p>
        </p:txBody>
      </p:sp>
      <p:sp>
        <p:nvSpPr>
          <p:cNvPr id="10" name="object 10"/>
          <p:cNvSpPr txBox="1"/>
          <p:nvPr/>
        </p:nvSpPr>
        <p:spPr>
          <a:xfrm>
            <a:off x="9194800" y="3937000"/>
            <a:ext cx="6165215" cy="5125762"/>
          </a:xfrm>
          <a:prstGeom prst="rect">
            <a:avLst/>
          </a:prstGeom>
        </p:spPr>
        <p:txBody>
          <a:bodyPr vert="horz" wrap="square" lIns="0" tIns="306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4550" b="1" spc="-10" dirty="0">
                <a:latin typeface="Arial MT"/>
                <a:cs typeface="Arial MT"/>
              </a:rPr>
              <a:t>GraphQL</a:t>
            </a:r>
            <a:endParaRPr sz="4550" b="1" dirty="0">
              <a:latin typeface="Arial MT"/>
              <a:cs typeface="Arial MT"/>
            </a:endParaRPr>
          </a:p>
          <a:p>
            <a:pPr marL="715010">
              <a:lnSpc>
                <a:spcPts val="4810"/>
              </a:lnSpc>
              <a:spcBef>
                <a:spcPts val="2039"/>
              </a:spcBef>
            </a:pPr>
            <a:r>
              <a:rPr sz="4100" spc="-35" dirty="0">
                <a:latin typeface="Arial MT"/>
                <a:cs typeface="Arial MT"/>
              </a:rPr>
              <a:t>Normalmente</a:t>
            </a:r>
            <a:r>
              <a:rPr sz="4100" spc="-1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un</a:t>
            </a:r>
            <a:r>
              <a:rPr sz="4100" spc="-195" dirty="0">
                <a:latin typeface="Arial MT"/>
                <a:cs typeface="Arial MT"/>
              </a:rPr>
              <a:t> </a:t>
            </a:r>
            <a:r>
              <a:rPr sz="4100" spc="-20" dirty="0">
                <a:latin typeface="Arial MT"/>
                <a:cs typeface="Arial MT"/>
              </a:rPr>
              <a:t>solo</a:t>
            </a:r>
            <a:endParaRPr sz="4100" dirty="0">
              <a:latin typeface="Arial MT"/>
              <a:cs typeface="Arial MT"/>
            </a:endParaRPr>
          </a:p>
          <a:p>
            <a:pPr marL="710565">
              <a:lnSpc>
                <a:spcPts val="4690"/>
              </a:lnSpc>
            </a:pPr>
            <a:r>
              <a:rPr lang="es-ES" sz="4000" spc="-10" dirty="0">
                <a:latin typeface="Arial MT"/>
                <a:cs typeface="Arial MT"/>
              </a:rPr>
              <a:t>E</a:t>
            </a:r>
            <a:r>
              <a:rPr sz="4000" spc="-10" dirty="0" err="1">
                <a:latin typeface="Arial MT"/>
                <a:cs typeface="Arial MT"/>
              </a:rPr>
              <a:t>ndpoint</a:t>
            </a:r>
            <a:r>
              <a:rPr lang="es-ES" sz="4000" spc="-10" dirty="0">
                <a:latin typeface="Arial MT"/>
                <a:cs typeface="Arial MT"/>
              </a:rPr>
              <a:t>.</a:t>
            </a:r>
            <a:endParaRPr sz="4000" dirty="0">
              <a:latin typeface="Arial MT"/>
              <a:cs typeface="Arial MT"/>
            </a:endParaRPr>
          </a:p>
          <a:p>
            <a:pPr marL="711835" marR="5080" indent="1905">
              <a:lnSpc>
                <a:spcPts val="4550"/>
              </a:lnSpc>
              <a:spcBef>
                <a:spcPts val="1160"/>
              </a:spcBef>
            </a:pPr>
            <a:r>
              <a:rPr sz="4100" spc="-80" dirty="0">
                <a:latin typeface="Arial MT"/>
                <a:cs typeface="Arial MT"/>
              </a:rPr>
              <a:t>Respuesta</a:t>
            </a:r>
            <a:r>
              <a:rPr sz="4100" spc="-5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declarativa</a:t>
            </a:r>
            <a:r>
              <a:rPr sz="4100" spc="-135" dirty="0">
                <a:latin typeface="Arial MT"/>
                <a:cs typeface="Arial MT"/>
              </a:rPr>
              <a:t> </a:t>
            </a:r>
            <a:r>
              <a:rPr sz="4100" spc="-50" dirty="0">
                <a:latin typeface="Arial MT"/>
                <a:cs typeface="Arial MT"/>
              </a:rPr>
              <a:t>y </a:t>
            </a:r>
            <a:r>
              <a:rPr sz="4100" spc="-10" dirty="0">
                <a:latin typeface="Arial MT"/>
                <a:cs typeface="Arial MT"/>
              </a:rPr>
              <a:t>flexible</a:t>
            </a:r>
            <a:endParaRPr sz="4100" dirty="0">
              <a:latin typeface="Arial MT"/>
              <a:cs typeface="Arial MT"/>
            </a:endParaRPr>
          </a:p>
          <a:p>
            <a:pPr marL="707390" marR="739140" indent="5715">
              <a:lnSpc>
                <a:spcPts val="4650"/>
              </a:lnSpc>
              <a:spcBef>
                <a:spcPts val="760"/>
              </a:spcBef>
            </a:pPr>
            <a:r>
              <a:rPr sz="4100" spc="-315" dirty="0">
                <a:latin typeface="Arial MT"/>
                <a:cs typeface="Arial MT"/>
              </a:rPr>
              <a:t>El</a:t>
            </a:r>
            <a:r>
              <a:rPr sz="4100" spc="30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cliente</a:t>
            </a:r>
            <a:r>
              <a:rPr sz="4100" spc="-80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decide</a:t>
            </a:r>
            <a:r>
              <a:rPr sz="4100" spc="80" dirty="0">
                <a:latin typeface="Arial MT"/>
                <a:cs typeface="Arial MT"/>
              </a:rPr>
              <a:t> </a:t>
            </a:r>
            <a:r>
              <a:rPr sz="4100" spc="-70" dirty="0">
                <a:latin typeface="Arial MT"/>
                <a:cs typeface="Arial MT"/>
              </a:rPr>
              <a:t>qué </a:t>
            </a:r>
            <a:r>
              <a:rPr sz="4100" spc="-10" dirty="0">
                <a:latin typeface="Arial MT"/>
                <a:cs typeface="Arial MT"/>
              </a:rPr>
              <a:t>necesita</a:t>
            </a:r>
            <a:endParaRPr sz="4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4300" y="2108200"/>
            <a:ext cx="6286500" cy="67945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2978" y="550333"/>
            <a:ext cx="15700821" cy="8457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b="1" spc="-130" dirty="0">
                <a:solidFill>
                  <a:srgbClr val="1C1C1C"/>
                </a:solidFill>
              </a:rPr>
              <a:t>El</a:t>
            </a:r>
            <a:r>
              <a:rPr sz="5400" b="1" spc="-265" dirty="0">
                <a:solidFill>
                  <a:srgbClr val="1C1C1C"/>
                </a:solidFill>
              </a:rPr>
              <a:t> </a:t>
            </a:r>
            <a:r>
              <a:rPr sz="5400" b="1" dirty="0">
                <a:solidFill>
                  <a:srgbClr val="181818"/>
                </a:solidFill>
              </a:rPr>
              <a:t>Schema:</a:t>
            </a:r>
            <a:r>
              <a:rPr sz="5400" b="1" spc="-120" dirty="0">
                <a:solidFill>
                  <a:srgbClr val="181818"/>
                </a:solidFill>
              </a:rPr>
              <a:t> </a:t>
            </a:r>
            <a:r>
              <a:rPr sz="5400" b="1" spc="-130" dirty="0">
                <a:solidFill>
                  <a:srgbClr val="1A1A1A"/>
                </a:solidFill>
              </a:rPr>
              <a:t>El</a:t>
            </a:r>
            <a:r>
              <a:rPr sz="5400" b="1" spc="-235" dirty="0">
                <a:solidFill>
                  <a:srgbClr val="1A1A1A"/>
                </a:solidFill>
              </a:rPr>
              <a:t> </a:t>
            </a:r>
            <a:r>
              <a:rPr sz="5400" b="1" spc="190" dirty="0">
                <a:solidFill>
                  <a:srgbClr val="181818"/>
                </a:solidFill>
              </a:rPr>
              <a:t>contrato</a:t>
            </a:r>
            <a:r>
              <a:rPr sz="5400" b="1" spc="114" dirty="0">
                <a:solidFill>
                  <a:srgbClr val="181818"/>
                </a:solidFill>
              </a:rPr>
              <a:t> </a:t>
            </a:r>
            <a:r>
              <a:rPr sz="5400" b="1" spc="85" dirty="0">
                <a:solidFill>
                  <a:srgbClr val="1A1A1A"/>
                </a:solidFill>
              </a:rPr>
              <a:t>en</a:t>
            </a:r>
            <a:r>
              <a:rPr sz="5400" b="1" spc="-285" dirty="0">
                <a:solidFill>
                  <a:srgbClr val="1A1A1A"/>
                </a:solidFill>
              </a:rPr>
              <a:t> </a:t>
            </a:r>
            <a:r>
              <a:rPr sz="5400" b="1" spc="165" dirty="0">
                <a:solidFill>
                  <a:srgbClr val="181818"/>
                </a:solidFill>
              </a:rPr>
              <a:t>el</a:t>
            </a:r>
            <a:r>
              <a:rPr sz="5400" b="1" spc="-345" dirty="0">
                <a:solidFill>
                  <a:srgbClr val="181818"/>
                </a:solidFill>
              </a:rPr>
              <a:t> </a:t>
            </a:r>
            <a:r>
              <a:rPr sz="5400" b="1" spc="130" dirty="0">
                <a:solidFill>
                  <a:srgbClr val="1C1C1C"/>
                </a:solidFill>
              </a:rPr>
              <a:t>corazón</a:t>
            </a:r>
            <a:r>
              <a:rPr sz="5400" b="1" spc="-175" dirty="0">
                <a:solidFill>
                  <a:srgbClr val="1C1C1C"/>
                </a:solidFill>
              </a:rPr>
              <a:t> </a:t>
            </a:r>
            <a:r>
              <a:rPr sz="5400" b="1" spc="145" dirty="0">
                <a:solidFill>
                  <a:srgbClr val="1C1C1C"/>
                </a:solidFill>
              </a:rPr>
              <a:t>de</a:t>
            </a:r>
            <a:r>
              <a:rPr sz="5400" b="1" spc="-365" dirty="0">
                <a:solidFill>
                  <a:srgbClr val="1C1C1C"/>
                </a:solidFill>
              </a:rPr>
              <a:t> </a:t>
            </a:r>
            <a:r>
              <a:rPr sz="5400" b="1" spc="100" dirty="0">
                <a:solidFill>
                  <a:srgbClr val="1C1C1C"/>
                </a:solidFill>
              </a:rPr>
              <a:t>la</a:t>
            </a:r>
            <a:r>
              <a:rPr sz="5400" b="1" spc="-45" dirty="0">
                <a:solidFill>
                  <a:srgbClr val="1C1C1C"/>
                </a:solidFill>
              </a:rPr>
              <a:t> </a:t>
            </a:r>
            <a:r>
              <a:rPr sz="5400" b="1" spc="-25" dirty="0">
                <a:solidFill>
                  <a:srgbClr val="1C1C1C"/>
                </a:solidFill>
              </a:rPr>
              <a:t>API</a:t>
            </a:r>
            <a:endParaRPr sz="5400" b="1" dirty="0"/>
          </a:p>
        </p:txBody>
      </p:sp>
      <p:sp>
        <p:nvSpPr>
          <p:cNvPr id="8" name="object 8"/>
          <p:cNvSpPr txBox="1"/>
          <p:nvPr/>
        </p:nvSpPr>
        <p:spPr>
          <a:xfrm>
            <a:off x="707579" y="1712270"/>
            <a:ext cx="9361652" cy="6379952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1590" marR="5080" indent="-6350">
              <a:lnSpc>
                <a:spcPts val="4150"/>
              </a:lnSpc>
              <a:spcBef>
                <a:spcPts val="530"/>
              </a:spcBef>
            </a:pPr>
            <a:r>
              <a:rPr sz="3750" spc="-340" dirty="0">
                <a:latin typeface="Arial MT"/>
                <a:cs typeface="Arial MT"/>
              </a:rPr>
              <a:t>El</a:t>
            </a:r>
            <a:r>
              <a:rPr sz="3750" spc="70" dirty="0">
                <a:latin typeface="Arial MT"/>
                <a:cs typeface="Arial MT"/>
              </a:rPr>
              <a:t> </a:t>
            </a:r>
            <a:r>
              <a:rPr sz="3750" spc="-105" dirty="0">
                <a:latin typeface="Arial MT"/>
                <a:cs typeface="Arial MT"/>
              </a:rPr>
              <a:t>schema</a:t>
            </a:r>
            <a:r>
              <a:rPr sz="3750" spc="-15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define</a:t>
            </a:r>
            <a:r>
              <a:rPr sz="3750" spc="-18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todo</a:t>
            </a:r>
            <a:r>
              <a:rPr sz="3750" spc="-15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lo</a:t>
            </a:r>
            <a:r>
              <a:rPr sz="3750" spc="-114" dirty="0">
                <a:latin typeface="Arial MT"/>
                <a:cs typeface="Arial MT"/>
              </a:rPr>
              <a:t> </a:t>
            </a:r>
            <a:r>
              <a:rPr sz="3750" spc="-70" dirty="0">
                <a:latin typeface="Arial MT"/>
                <a:cs typeface="Arial MT"/>
              </a:rPr>
              <a:t>que</a:t>
            </a:r>
            <a:r>
              <a:rPr sz="3750" spc="-114" dirty="0">
                <a:latin typeface="Arial MT"/>
                <a:cs typeface="Arial MT"/>
              </a:rPr>
              <a:t> </a:t>
            </a:r>
            <a:r>
              <a:rPr sz="3750" spc="-25" dirty="0">
                <a:latin typeface="Arial MT"/>
                <a:cs typeface="Arial MT"/>
              </a:rPr>
              <a:t>la</a:t>
            </a:r>
            <a:r>
              <a:rPr sz="3750" spc="25" dirty="0">
                <a:latin typeface="Arial MT"/>
                <a:cs typeface="Arial MT"/>
              </a:rPr>
              <a:t> </a:t>
            </a:r>
            <a:r>
              <a:rPr sz="3750" spc="-265" dirty="0">
                <a:latin typeface="Arial MT"/>
                <a:cs typeface="Arial MT"/>
              </a:rPr>
              <a:t>API</a:t>
            </a:r>
            <a:r>
              <a:rPr sz="3750" spc="5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permite </a:t>
            </a:r>
            <a:r>
              <a:rPr sz="3750" spc="-100" dirty="0">
                <a:latin typeface="Arial MT"/>
                <a:cs typeface="Arial MT"/>
              </a:rPr>
              <a:t>hacer.</a:t>
            </a:r>
            <a:r>
              <a:rPr sz="3750" spc="-160" dirty="0">
                <a:latin typeface="Arial MT"/>
                <a:cs typeface="Arial MT"/>
              </a:rPr>
              <a:t> </a:t>
            </a:r>
            <a:r>
              <a:rPr sz="3750" spc="-350" dirty="0">
                <a:latin typeface="Arial MT"/>
                <a:cs typeface="Arial MT"/>
              </a:rPr>
              <a:t>Es</a:t>
            </a:r>
            <a:r>
              <a:rPr sz="3750" spc="4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el</a:t>
            </a:r>
            <a:r>
              <a:rPr sz="3750" spc="-260" dirty="0">
                <a:latin typeface="Arial MT"/>
                <a:cs typeface="Arial MT"/>
              </a:rPr>
              <a:t> </a:t>
            </a:r>
            <a:r>
              <a:rPr sz="3750" spc="-20" dirty="0">
                <a:latin typeface="Arial MT"/>
                <a:cs typeface="Arial MT"/>
              </a:rPr>
              <a:t>único</a:t>
            </a:r>
            <a:r>
              <a:rPr sz="3750" spc="-24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punto</a:t>
            </a:r>
            <a:r>
              <a:rPr sz="3750" spc="-9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de</a:t>
            </a:r>
            <a:r>
              <a:rPr sz="3750" spc="-204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verdad.</a:t>
            </a:r>
            <a:endParaRPr sz="3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3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850" spc="-145" dirty="0" err="1">
                <a:latin typeface="Arial MT"/>
                <a:cs typeface="Arial MT"/>
              </a:rPr>
              <a:t>Funciona</a:t>
            </a:r>
            <a:r>
              <a:rPr sz="3850" spc="-100" dirty="0">
                <a:latin typeface="Arial MT"/>
                <a:cs typeface="Arial MT"/>
              </a:rPr>
              <a:t> </a:t>
            </a:r>
            <a:r>
              <a:rPr sz="3850" spc="-20" dirty="0" err="1">
                <a:latin typeface="Arial MT"/>
                <a:cs typeface="Arial MT"/>
              </a:rPr>
              <a:t>como</a:t>
            </a:r>
            <a:endParaRPr lang="es-ES" sz="3850" b="1" dirty="0">
              <a:latin typeface="Arial MT"/>
              <a:cs typeface="Arial MT"/>
            </a:endParaRPr>
          </a:p>
          <a:p>
            <a:pPr marL="1515744" indent="-571500">
              <a:lnSpc>
                <a:spcPts val="4210"/>
              </a:lnSpc>
              <a:spcBef>
                <a:spcPts val="1580"/>
              </a:spcBef>
              <a:buFont typeface="Arial" panose="020B0604020202020204" pitchFamily="34" charset="0"/>
              <a:buChar char="•"/>
            </a:pPr>
            <a:r>
              <a:rPr sz="3600" b="1" spc="95" dirty="0" err="1">
                <a:latin typeface="Arial MT"/>
                <a:cs typeface="Arial MT"/>
              </a:rPr>
              <a:t>Contrato</a:t>
            </a:r>
            <a:r>
              <a:rPr sz="3600" spc="2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entre</a:t>
            </a:r>
            <a:r>
              <a:rPr sz="3600" spc="25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frontend</a:t>
            </a:r>
            <a:r>
              <a:rPr sz="3600" spc="465" dirty="0">
                <a:latin typeface="Arial MT"/>
                <a:cs typeface="Arial MT"/>
              </a:rPr>
              <a:t> </a:t>
            </a:r>
            <a:r>
              <a:rPr sz="3600" spc="-50" dirty="0">
                <a:latin typeface="Arial MT"/>
                <a:cs typeface="Arial MT"/>
              </a:rPr>
              <a:t>y</a:t>
            </a:r>
            <a:endParaRPr sz="3600" dirty="0">
              <a:latin typeface="Arial MT"/>
              <a:cs typeface="Arial MT"/>
            </a:endParaRPr>
          </a:p>
          <a:p>
            <a:pPr marL="949325">
              <a:lnSpc>
                <a:spcPts val="4270"/>
              </a:lnSpc>
            </a:pPr>
            <a:r>
              <a:rPr sz="3650" spc="-10" dirty="0">
                <a:latin typeface="Arial MT"/>
                <a:cs typeface="Arial MT"/>
              </a:rPr>
              <a:t>backend.</a:t>
            </a:r>
            <a:endParaRPr sz="3650" dirty="0">
              <a:latin typeface="Arial MT"/>
              <a:cs typeface="Arial MT"/>
            </a:endParaRPr>
          </a:p>
          <a:p>
            <a:pPr marL="1517015" indent="-571500">
              <a:lnSpc>
                <a:spcPts val="4079"/>
              </a:lnSpc>
              <a:spcBef>
                <a:spcPts val="1270"/>
              </a:spcBef>
              <a:buFont typeface="Arial" panose="020B0604020202020204" pitchFamily="34" charset="0"/>
              <a:buChar char="•"/>
              <a:tabLst>
                <a:tab pos="4453890" algn="l"/>
              </a:tabLst>
            </a:pPr>
            <a:r>
              <a:rPr sz="3550" b="1" spc="80" dirty="0" err="1">
                <a:latin typeface="Arial MT"/>
                <a:cs typeface="Arial MT"/>
              </a:rPr>
              <a:t>Documentación</a:t>
            </a:r>
            <a:r>
              <a:rPr lang="es-ES" sz="3550" b="1" spc="80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viva</a:t>
            </a:r>
            <a:r>
              <a:rPr sz="3550" spc="25" dirty="0">
                <a:latin typeface="Arial MT"/>
                <a:cs typeface="Arial MT"/>
              </a:rPr>
              <a:t> </a:t>
            </a:r>
            <a:r>
              <a:rPr sz="3550" spc="-50" dirty="0">
                <a:latin typeface="Arial MT"/>
                <a:cs typeface="Arial MT"/>
              </a:rPr>
              <a:t>y</a:t>
            </a:r>
            <a:endParaRPr sz="3550" dirty="0">
              <a:latin typeface="Arial MT"/>
              <a:cs typeface="Arial MT"/>
            </a:endParaRPr>
          </a:p>
          <a:p>
            <a:pPr marL="949960">
              <a:lnSpc>
                <a:spcPts val="4320"/>
              </a:lnSpc>
            </a:pPr>
            <a:r>
              <a:rPr sz="3750" spc="-10" dirty="0">
                <a:latin typeface="Arial MT"/>
                <a:cs typeface="Arial MT"/>
              </a:rPr>
              <a:t>automática.</a:t>
            </a:r>
            <a:endParaRPr sz="3750" dirty="0">
              <a:latin typeface="Arial MT"/>
              <a:cs typeface="Arial MT"/>
            </a:endParaRPr>
          </a:p>
          <a:p>
            <a:pPr marL="1517015" marR="2705735" indent="-571500">
              <a:lnSpc>
                <a:spcPts val="4100"/>
              </a:lnSpc>
              <a:spcBef>
                <a:spcPts val="1570"/>
              </a:spcBef>
              <a:buFont typeface="Arial" panose="020B0604020202020204" pitchFamily="34" charset="0"/>
              <a:buChar char="•"/>
            </a:pPr>
            <a:r>
              <a:rPr sz="3850" b="1" spc="155" dirty="0">
                <a:latin typeface="Calibri"/>
                <a:cs typeface="Calibri"/>
              </a:rPr>
              <a:t>Sistema</a:t>
            </a:r>
            <a:r>
              <a:rPr sz="3850" b="1" spc="-25" dirty="0">
                <a:latin typeface="Calibri"/>
                <a:cs typeface="Calibri"/>
              </a:rPr>
              <a:t> </a:t>
            </a:r>
            <a:r>
              <a:rPr sz="3850" b="1" spc="190" dirty="0">
                <a:latin typeface="Calibri"/>
                <a:cs typeface="Calibri"/>
              </a:rPr>
              <a:t>de</a:t>
            </a:r>
            <a:r>
              <a:rPr sz="3850" b="1" spc="-80" dirty="0">
                <a:latin typeface="Calibri"/>
                <a:cs typeface="Calibri"/>
              </a:rPr>
              <a:t> </a:t>
            </a:r>
            <a:r>
              <a:rPr sz="3850" b="1" spc="90" dirty="0">
                <a:latin typeface="Calibri"/>
                <a:cs typeface="Calibri"/>
              </a:rPr>
              <a:t>validación</a:t>
            </a:r>
            <a:r>
              <a:rPr sz="3850" b="1" spc="345" dirty="0">
                <a:latin typeface="Calibri"/>
                <a:cs typeface="Calibri"/>
              </a:rPr>
              <a:t> </a:t>
            </a:r>
            <a:r>
              <a:rPr sz="3850" spc="45" dirty="0">
                <a:latin typeface="Calibri"/>
                <a:cs typeface="Calibri"/>
              </a:rPr>
              <a:t>de consultas.</a:t>
            </a:r>
            <a:endParaRPr sz="3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50E2966A-B4E8-35A3-FF0D-A0E23030D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1786026"/>
            <a:ext cx="7584721" cy="6181545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1C16C33-7A39-41D7-DFDA-911FBFF92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62" y="3919227"/>
            <a:ext cx="7584722" cy="191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5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2451100"/>
            <a:ext cx="622300" cy="1485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3400" y="2451100"/>
            <a:ext cx="622300" cy="1485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6200" y="2451100"/>
            <a:ext cx="1511300" cy="1485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72900" y="2451100"/>
            <a:ext cx="1447800" cy="1485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983174"/>
          </a:xfrm>
          <a:prstGeom prst="rect">
            <a:avLst/>
          </a:prstGeom>
        </p:spPr>
        <p:txBody>
          <a:bodyPr vert="horz" wrap="square" lIns="0" tIns="143086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35"/>
              </a:spcBef>
            </a:pPr>
            <a:r>
              <a:rPr sz="5450" b="1" dirty="0">
                <a:solidFill>
                  <a:srgbClr val="131313"/>
                </a:solidFill>
              </a:rPr>
              <a:t>Los</a:t>
            </a:r>
            <a:r>
              <a:rPr sz="5450" b="1" spc="-114" dirty="0">
                <a:solidFill>
                  <a:srgbClr val="131313"/>
                </a:solidFill>
              </a:rPr>
              <a:t> </a:t>
            </a:r>
            <a:r>
              <a:rPr sz="5450" b="1" spc="180" dirty="0">
                <a:solidFill>
                  <a:srgbClr val="161616"/>
                </a:solidFill>
              </a:rPr>
              <a:t>tres</a:t>
            </a:r>
            <a:r>
              <a:rPr sz="5450" b="1" spc="-229" dirty="0">
                <a:solidFill>
                  <a:srgbClr val="161616"/>
                </a:solidFill>
              </a:rPr>
              <a:t> </a:t>
            </a:r>
            <a:r>
              <a:rPr sz="5450" b="1" spc="135" dirty="0">
                <a:solidFill>
                  <a:srgbClr val="131313"/>
                </a:solidFill>
              </a:rPr>
              <a:t>pilares</a:t>
            </a:r>
            <a:r>
              <a:rPr sz="5450" b="1" spc="-145" dirty="0">
                <a:solidFill>
                  <a:srgbClr val="131313"/>
                </a:solidFill>
              </a:rPr>
              <a:t> </a:t>
            </a:r>
            <a:r>
              <a:rPr sz="5450" b="1" spc="114" dirty="0">
                <a:solidFill>
                  <a:srgbClr val="161616"/>
                </a:solidFill>
              </a:rPr>
              <a:t>de</a:t>
            </a:r>
            <a:r>
              <a:rPr sz="5450" b="1" spc="-190" dirty="0">
                <a:solidFill>
                  <a:srgbClr val="161616"/>
                </a:solidFill>
              </a:rPr>
              <a:t> </a:t>
            </a:r>
            <a:r>
              <a:rPr sz="5450" b="1" dirty="0">
                <a:solidFill>
                  <a:srgbClr val="131313"/>
                </a:solidFill>
              </a:rPr>
              <a:t>la</a:t>
            </a:r>
            <a:r>
              <a:rPr sz="5450" b="1" spc="-210" dirty="0">
                <a:solidFill>
                  <a:srgbClr val="131313"/>
                </a:solidFill>
              </a:rPr>
              <a:t> </a:t>
            </a:r>
            <a:r>
              <a:rPr sz="5450" b="1" spc="150" dirty="0">
                <a:solidFill>
                  <a:srgbClr val="111111"/>
                </a:solidFill>
              </a:rPr>
              <a:t>interacción</a:t>
            </a:r>
            <a:endParaRPr sz="5450" b="1" dirty="0"/>
          </a:p>
        </p:txBody>
      </p:sp>
      <p:sp>
        <p:nvSpPr>
          <p:cNvPr id="7" name="object 7"/>
          <p:cNvSpPr txBox="1"/>
          <p:nvPr/>
        </p:nvSpPr>
        <p:spPr>
          <a:xfrm>
            <a:off x="862657" y="3873500"/>
            <a:ext cx="4508500" cy="3062605"/>
          </a:xfrm>
          <a:prstGeom prst="rect">
            <a:avLst/>
          </a:prstGeom>
        </p:spPr>
        <p:txBody>
          <a:bodyPr vert="horz" wrap="square" lIns="0" tIns="361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0"/>
              </a:spcBef>
            </a:pPr>
            <a:r>
              <a:rPr sz="4550" b="1" spc="-10" dirty="0">
                <a:latin typeface="Arial MT"/>
                <a:cs typeface="Arial MT"/>
              </a:rPr>
              <a:t>Types</a:t>
            </a:r>
            <a:endParaRPr sz="4550" b="1" dirty="0">
              <a:latin typeface="Arial MT"/>
              <a:cs typeface="Arial MT"/>
            </a:endParaRPr>
          </a:p>
          <a:p>
            <a:pPr marL="17780" marR="5080" indent="-3810">
              <a:lnSpc>
                <a:spcPct val="97000"/>
              </a:lnSpc>
              <a:spcBef>
                <a:spcPts val="2425"/>
              </a:spcBef>
            </a:pPr>
            <a:r>
              <a:rPr sz="3800" spc="-25" dirty="0">
                <a:latin typeface="Arial MT"/>
                <a:cs typeface="Arial MT"/>
              </a:rPr>
              <a:t>Definen</a:t>
            </a:r>
            <a:r>
              <a:rPr sz="3800" spc="-18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el</a:t>
            </a:r>
            <a:r>
              <a:rPr sz="3800" spc="-265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modelo</a:t>
            </a:r>
            <a:r>
              <a:rPr sz="3800" spc="-110" dirty="0">
                <a:latin typeface="Arial MT"/>
                <a:cs typeface="Arial MT"/>
              </a:rPr>
              <a:t> </a:t>
            </a:r>
            <a:r>
              <a:rPr sz="3800" spc="-25" dirty="0">
                <a:latin typeface="Arial MT"/>
                <a:cs typeface="Arial MT"/>
              </a:rPr>
              <a:t>de </a:t>
            </a:r>
            <a:r>
              <a:rPr sz="3800" dirty="0">
                <a:latin typeface="Arial MT"/>
                <a:cs typeface="Arial MT"/>
              </a:rPr>
              <a:t>datos.</a:t>
            </a:r>
            <a:r>
              <a:rPr sz="3800" spc="-125" dirty="0">
                <a:latin typeface="Arial MT"/>
                <a:cs typeface="Arial MT"/>
              </a:rPr>
              <a:t> </a:t>
            </a:r>
            <a:r>
              <a:rPr sz="3800" spc="-160" dirty="0">
                <a:latin typeface="Arial MT"/>
                <a:cs typeface="Arial MT"/>
              </a:rPr>
              <a:t>Qué</a:t>
            </a:r>
            <a:r>
              <a:rPr sz="3800" spc="-65" dirty="0">
                <a:latin typeface="Arial MT"/>
                <a:cs typeface="Arial MT"/>
              </a:rPr>
              <a:t> </a:t>
            </a:r>
            <a:r>
              <a:rPr sz="3800" spc="-10" dirty="0">
                <a:latin typeface="Arial MT"/>
                <a:cs typeface="Arial MT"/>
              </a:rPr>
              <a:t>campos </a:t>
            </a:r>
            <a:r>
              <a:rPr sz="3800" dirty="0">
                <a:latin typeface="Arial MT"/>
                <a:cs typeface="Arial MT"/>
              </a:rPr>
              <a:t>tiene</a:t>
            </a:r>
            <a:r>
              <a:rPr sz="3800" spc="-19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cada</a:t>
            </a:r>
            <a:r>
              <a:rPr sz="3800" spc="-90" dirty="0">
                <a:latin typeface="Arial MT"/>
                <a:cs typeface="Arial MT"/>
              </a:rPr>
              <a:t> </a:t>
            </a:r>
            <a:r>
              <a:rPr sz="3800" spc="-10" dirty="0">
                <a:latin typeface="Arial MT"/>
                <a:cs typeface="Arial MT"/>
              </a:rPr>
              <a:t>entidad.</a:t>
            </a:r>
            <a:endParaRPr sz="3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9446" y="7311672"/>
            <a:ext cx="3070860" cy="1221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125"/>
              </a:lnSpc>
              <a:spcBef>
                <a:spcPts val="125"/>
              </a:spcBef>
            </a:pPr>
            <a:r>
              <a:rPr sz="2750" dirty="0">
                <a:solidFill>
                  <a:srgbClr val="000C13"/>
                </a:solidFill>
                <a:latin typeface="Consolas"/>
                <a:cs typeface="Consolas"/>
              </a:rPr>
              <a:t>type</a:t>
            </a:r>
            <a:r>
              <a:rPr sz="2750" spc="-155" dirty="0">
                <a:solidFill>
                  <a:srgbClr val="000C13"/>
                </a:solidFill>
                <a:latin typeface="Consolas"/>
                <a:cs typeface="Consolas"/>
              </a:rPr>
              <a:t> </a:t>
            </a:r>
            <a:r>
              <a:rPr sz="2750" dirty="0">
                <a:solidFill>
                  <a:srgbClr val="131313"/>
                </a:solidFill>
                <a:latin typeface="Consolas"/>
                <a:cs typeface="Consolas"/>
              </a:rPr>
              <a:t>User</a:t>
            </a:r>
            <a:r>
              <a:rPr sz="2750" spc="-40" dirty="0">
                <a:solidFill>
                  <a:srgbClr val="131313"/>
                </a:solidFill>
                <a:latin typeface="Consolas"/>
                <a:cs typeface="Consolas"/>
              </a:rPr>
              <a:t> </a:t>
            </a:r>
            <a:r>
              <a:rPr sz="2750" spc="-50" dirty="0">
                <a:solidFill>
                  <a:srgbClr val="131313"/>
                </a:solidFill>
                <a:latin typeface="Consolas"/>
                <a:cs typeface="Consolas"/>
              </a:rPr>
              <a:t>{</a:t>
            </a:r>
            <a:endParaRPr sz="2750" dirty="0">
              <a:latin typeface="Consolas"/>
              <a:cs typeface="Consolas"/>
            </a:endParaRPr>
          </a:p>
          <a:p>
            <a:pPr marL="386715">
              <a:lnSpc>
                <a:spcPts val="3135"/>
              </a:lnSpc>
            </a:pPr>
            <a:r>
              <a:rPr sz="2850" dirty="0">
                <a:solidFill>
                  <a:srgbClr val="0A0A0A"/>
                </a:solidFill>
                <a:latin typeface="Consolas"/>
                <a:cs typeface="Consolas"/>
              </a:rPr>
              <a:t>id:</a:t>
            </a:r>
            <a:r>
              <a:rPr sz="2850" spc="-375" dirty="0">
                <a:solidFill>
                  <a:srgbClr val="0A0A0A"/>
                </a:solidFill>
                <a:latin typeface="Consolas"/>
                <a:cs typeface="Consolas"/>
              </a:rPr>
              <a:t> </a:t>
            </a:r>
            <a:r>
              <a:rPr sz="2850" spc="-20" dirty="0">
                <a:solidFill>
                  <a:srgbClr val="0A0A0A"/>
                </a:solidFill>
                <a:latin typeface="Consolas"/>
                <a:cs typeface="Consolas"/>
              </a:rPr>
              <a:t>ID!,</a:t>
            </a:r>
            <a:endParaRPr sz="2850" dirty="0">
              <a:latin typeface="Consolas"/>
              <a:cs typeface="Consolas"/>
            </a:endParaRPr>
          </a:p>
          <a:p>
            <a:pPr marL="381635">
              <a:lnSpc>
                <a:spcPts val="3130"/>
              </a:lnSpc>
              <a:tabLst>
                <a:tab pos="1912620" algn="l"/>
              </a:tabLst>
            </a:pPr>
            <a:r>
              <a:rPr sz="2700" spc="-55" dirty="0">
                <a:solidFill>
                  <a:srgbClr val="000A13"/>
                </a:solidFill>
                <a:latin typeface="Arial MT"/>
                <a:cs typeface="Arial MT"/>
              </a:rPr>
              <a:t>no</a:t>
            </a:r>
            <a:r>
              <a:rPr lang="es-ES" sz="2700" spc="-55" dirty="0">
                <a:solidFill>
                  <a:srgbClr val="000A13"/>
                </a:solidFill>
                <a:latin typeface="Arial MT"/>
                <a:cs typeface="Arial MT"/>
              </a:rPr>
              <a:t>m</a:t>
            </a:r>
            <a:r>
              <a:rPr sz="2700" spc="-55" dirty="0">
                <a:solidFill>
                  <a:srgbClr val="000A13"/>
                </a:solidFill>
                <a:latin typeface="Arial MT"/>
                <a:cs typeface="Arial MT"/>
              </a:rPr>
              <a:t>b</a:t>
            </a:r>
            <a:r>
              <a:rPr sz="2700" spc="-395" dirty="0">
                <a:solidFill>
                  <a:srgbClr val="000A13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000A11"/>
                </a:solidFill>
                <a:latin typeface="Arial MT"/>
                <a:cs typeface="Arial MT"/>
              </a:rPr>
              <a:t>re</a:t>
            </a:r>
            <a:r>
              <a:rPr sz="2700" spc="90" dirty="0">
                <a:solidFill>
                  <a:srgbClr val="000A11"/>
                </a:solidFill>
                <a:latin typeface="Arial MT"/>
                <a:cs typeface="Arial MT"/>
              </a:rPr>
              <a:t> </a:t>
            </a:r>
            <a:r>
              <a:rPr sz="2700" spc="-50" dirty="0">
                <a:solidFill>
                  <a:srgbClr val="111111"/>
                </a:solidFill>
                <a:latin typeface="Arial MT"/>
                <a:cs typeface="Arial MT"/>
              </a:rPr>
              <a:t>:</a:t>
            </a:r>
            <a:r>
              <a:rPr sz="270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2700" spc="70" dirty="0">
                <a:solidFill>
                  <a:srgbClr val="00111A"/>
                </a:solidFill>
                <a:latin typeface="Arial MT"/>
                <a:cs typeface="Arial MT"/>
              </a:rPr>
              <a:t>St</a:t>
            </a:r>
            <a:r>
              <a:rPr sz="2700" spc="-310" dirty="0">
                <a:solidFill>
                  <a:srgbClr val="00111A"/>
                </a:solidFill>
                <a:latin typeface="Arial MT"/>
                <a:cs typeface="Arial MT"/>
              </a:rPr>
              <a:t> </a:t>
            </a:r>
            <a:r>
              <a:rPr sz="2700" spc="310" dirty="0">
                <a:solidFill>
                  <a:srgbClr val="011118"/>
                </a:solidFill>
                <a:latin typeface="Arial MT"/>
                <a:cs typeface="Arial MT"/>
              </a:rPr>
              <a:t>ring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3888" y="3906029"/>
            <a:ext cx="3385185" cy="2507097"/>
          </a:xfrm>
          <a:prstGeom prst="rect">
            <a:avLst/>
          </a:prstGeom>
        </p:spPr>
        <p:txBody>
          <a:bodyPr vert="horz" wrap="square" lIns="0" tIns="328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4550" b="1" spc="-10" dirty="0">
                <a:latin typeface="Arial MT"/>
                <a:cs typeface="Arial MT"/>
              </a:rPr>
              <a:t>Queries</a:t>
            </a:r>
            <a:endParaRPr sz="4550" b="1" dirty="0">
              <a:latin typeface="Arial MT"/>
              <a:cs typeface="Arial MT"/>
            </a:endParaRPr>
          </a:p>
          <a:p>
            <a:pPr marL="13970" marR="5080" indent="5715">
              <a:lnSpc>
                <a:spcPts val="4450"/>
              </a:lnSpc>
              <a:spcBef>
                <a:spcPts val="2530"/>
              </a:spcBef>
            </a:pPr>
            <a:r>
              <a:rPr sz="3950" spc="60" dirty="0">
                <a:latin typeface="Calibri"/>
                <a:cs typeface="Calibri"/>
              </a:rPr>
              <a:t>Sirven</a:t>
            </a:r>
            <a:r>
              <a:rPr sz="3950" spc="125" dirty="0">
                <a:latin typeface="Calibri"/>
                <a:cs typeface="Calibri"/>
              </a:rPr>
              <a:t> </a:t>
            </a:r>
            <a:r>
              <a:rPr sz="3950" spc="50" dirty="0">
                <a:latin typeface="Calibri"/>
                <a:cs typeface="Calibri"/>
              </a:rPr>
              <a:t>para</a:t>
            </a:r>
            <a:r>
              <a:rPr sz="3950" spc="45" dirty="0">
                <a:latin typeface="Calibri"/>
                <a:cs typeface="Calibri"/>
              </a:rPr>
              <a:t> </a:t>
            </a:r>
            <a:r>
              <a:rPr sz="3950" spc="80" dirty="0">
                <a:latin typeface="Calibri"/>
                <a:cs typeface="Calibri"/>
              </a:rPr>
              <a:t>leer </a:t>
            </a:r>
            <a:r>
              <a:rPr sz="3950" spc="-10" dirty="0">
                <a:latin typeface="Calibri"/>
                <a:cs typeface="Calibri"/>
              </a:rPr>
              <a:t>datos.</a:t>
            </a:r>
            <a:endParaRPr sz="39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2398" y="3936354"/>
            <a:ext cx="4943475" cy="3005455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sz="4550" b="1" spc="165" dirty="0">
                <a:latin typeface="Arial MT"/>
                <a:cs typeface="Arial MT"/>
              </a:rPr>
              <a:t>Mutations</a:t>
            </a:r>
            <a:endParaRPr sz="4550" b="1" dirty="0">
              <a:latin typeface="Arial MT"/>
              <a:cs typeface="Arial MT"/>
            </a:endParaRPr>
          </a:p>
          <a:p>
            <a:pPr marL="31750" marR="5080" indent="5080">
              <a:lnSpc>
                <a:spcPct val="92600"/>
              </a:lnSpc>
              <a:spcBef>
                <a:spcPts val="2355"/>
              </a:spcBef>
            </a:pPr>
            <a:r>
              <a:rPr sz="4100" dirty="0">
                <a:latin typeface="Calibri"/>
                <a:cs typeface="Calibri"/>
              </a:rPr>
              <a:t>Sirven</a:t>
            </a:r>
            <a:r>
              <a:rPr sz="4100" spc="60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para </a:t>
            </a:r>
            <a:r>
              <a:rPr sz="4100" spc="-10" dirty="0">
                <a:latin typeface="Calibri"/>
                <a:cs typeface="Calibri"/>
              </a:rPr>
              <a:t>modificar </a:t>
            </a:r>
            <a:r>
              <a:rPr sz="3950" dirty="0">
                <a:latin typeface="Calibri"/>
                <a:cs typeface="Calibri"/>
              </a:rPr>
              <a:t>datos</a:t>
            </a:r>
            <a:r>
              <a:rPr sz="3950" spc="380" dirty="0">
                <a:latin typeface="Calibri"/>
                <a:cs typeface="Calibri"/>
              </a:rPr>
              <a:t> </a:t>
            </a:r>
            <a:r>
              <a:rPr sz="3950" dirty="0">
                <a:latin typeface="Calibri"/>
                <a:cs typeface="Calibri"/>
              </a:rPr>
              <a:t>(crear,</a:t>
            </a:r>
            <a:r>
              <a:rPr sz="3950" spc="265" dirty="0">
                <a:latin typeface="Calibri"/>
                <a:cs typeface="Calibri"/>
              </a:rPr>
              <a:t> </a:t>
            </a:r>
            <a:r>
              <a:rPr sz="3950" spc="-10" dirty="0">
                <a:latin typeface="Calibri"/>
                <a:cs typeface="Calibri"/>
              </a:rPr>
              <a:t>actualizar, </a:t>
            </a:r>
            <a:r>
              <a:rPr sz="4000" spc="-10" dirty="0">
                <a:latin typeface="Calibri"/>
                <a:cs typeface="Calibri"/>
              </a:rPr>
              <a:t>eliminar).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9300" y="2514600"/>
            <a:ext cx="10922000" cy="6616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850"/>
              </a:lnSpc>
              <a:spcBef>
                <a:spcPts val="125"/>
              </a:spcBef>
            </a:pPr>
            <a:r>
              <a:rPr sz="5250" b="1" spc="-50" dirty="0">
                <a:solidFill>
                  <a:srgbClr val="1F1F1F"/>
                </a:solidFill>
              </a:rPr>
              <a:t>Resolvers:</a:t>
            </a:r>
            <a:r>
              <a:rPr sz="5250" b="1" spc="-210" dirty="0">
                <a:solidFill>
                  <a:srgbClr val="1F1F1F"/>
                </a:solidFill>
              </a:rPr>
              <a:t> </a:t>
            </a:r>
            <a:r>
              <a:rPr sz="5250" b="1" spc="-45" dirty="0"/>
              <a:t>Donde</a:t>
            </a:r>
            <a:r>
              <a:rPr sz="5250" b="1" spc="-190" dirty="0"/>
              <a:t> </a:t>
            </a:r>
            <a:r>
              <a:rPr sz="5250" b="1" dirty="0">
                <a:solidFill>
                  <a:srgbClr val="242424"/>
                </a:solidFill>
              </a:rPr>
              <a:t>el</a:t>
            </a:r>
            <a:r>
              <a:rPr sz="5250" b="1" spc="-365" dirty="0">
                <a:solidFill>
                  <a:srgbClr val="242424"/>
                </a:solidFill>
              </a:rPr>
              <a:t> </a:t>
            </a:r>
            <a:r>
              <a:rPr sz="5250" b="1" dirty="0">
                <a:solidFill>
                  <a:srgbClr val="1C1C1C"/>
                </a:solidFill>
              </a:rPr>
              <a:t>'qué'</a:t>
            </a:r>
            <a:r>
              <a:rPr sz="5250" b="1" spc="-235" dirty="0">
                <a:solidFill>
                  <a:srgbClr val="1C1C1C"/>
                </a:solidFill>
              </a:rPr>
              <a:t> </a:t>
            </a:r>
            <a:r>
              <a:rPr sz="5250" b="1" spc="-25" dirty="0">
                <a:solidFill>
                  <a:srgbClr val="242424"/>
                </a:solidFill>
              </a:rPr>
              <a:t>se</a:t>
            </a:r>
            <a:endParaRPr sz="5250" b="1" dirty="0"/>
          </a:p>
          <a:p>
            <a:pPr marL="13970">
              <a:lnSpc>
                <a:spcPts val="6090"/>
              </a:lnSpc>
            </a:pPr>
            <a:r>
              <a:rPr sz="5450" b="1" spc="-20" dirty="0">
                <a:solidFill>
                  <a:srgbClr val="1F1F1F"/>
                </a:solidFill>
              </a:rPr>
              <a:t>encuentra</a:t>
            </a:r>
            <a:r>
              <a:rPr sz="5450" b="1" spc="-125" dirty="0">
                <a:solidFill>
                  <a:srgbClr val="1F1F1F"/>
                </a:solidFill>
              </a:rPr>
              <a:t> </a:t>
            </a:r>
            <a:r>
              <a:rPr sz="5450" b="1" dirty="0">
                <a:solidFill>
                  <a:srgbClr val="1F1F1F"/>
                </a:solidFill>
              </a:rPr>
              <a:t>con</a:t>
            </a:r>
            <a:r>
              <a:rPr sz="5450" b="1" spc="-375" dirty="0">
                <a:solidFill>
                  <a:srgbClr val="1F1F1F"/>
                </a:solidFill>
              </a:rPr>
              <a:t> </a:t>
            </a:r>
            <a:r>
              <a:rPr sz="5450" b="1" dirty="0">
                <a:solidFill>
                  <a:srgbClr val="262626"/>
                </a:solidFill>
              </a:rPr>
              <a:t>el</a:t>
            </a:r>
            <a:r>
              <a:rPr sz="5450" b="1" spc="-470" dirty="0">
                <a:solidFill>
                  <a:srgbClr val="262626"/>
                </a:solidFill>
              </a:rPr>
              <a:t> </a:t>
            </a:r>
            <a:r>
              <a:rPr sz="5450" b="1" spc="-10" dirty="0">
                <a:solidFill>
                  <a:srgbClr val="1F1F1F"/>
                </a:solidFill>
              </a:rPr>
              <a:t>'cómo'</a:t>
            </a:r>
            <a:endParaRPr sz="5450" b="1" dirty="0"/>
          </a:p>
        </p:txBody>
      </p:sp>
      <p:sp>
        <p:nvSpPr>
          <p:cNvPr id="4" name="object 4"/>
          <p:cNvSpPr txBox="1"/>
          <p:nvPr/>
        </p:nvSpPr>
        <p:spPr>
          <a:xfrm>
            <a:off x="703697" y="2964806"/>
            <a:ext cx="4333240" cy="9353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305"/>
              </a:spcBef>
            </a:pPr>
            <a:r>
              <a:rPr sz="2850" spc="-35" dirty="0">
                <a:latin typeface="Arial MT"/>
                <a:cs typeface="Arial MT"/>
              </a:rPr>
              <a:t>respaldado</a:t>
            </a:r>
            <a:r>
              <a:rPr sz="2850" spc="-8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por</a:t>
            </a:r>
            <a:r>
              <a:rPr sz="2850" spc="-65" dirty="0">
                <a:latin typeface="Arial MT"/>
                <a:cs typeface="Arial MT"/>
              </a:rPr>
              <a:t> </a:t>
            </a:r>
            <a:r>
              <a:rPr sz="2850" spc="-85" dirty="0">
                <a:latin typeface="Arial MT"/>
                <a:cs typeface="Arial MT"/>
              </a:rPr>
              <a:t>una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función</a:t>
            </a:r>
            <a:endParaRPr sz="2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750" spc="-20" dirty="0">
                <a:latin typeface="Arial MT"/>
                <a:cs typeface="Arial MT"/>
              </a:rPr>
              <a:t>Ilamada</a:t>
            </a:r>
            <a:r>
              <a:rPr sz="2750" spc="-95" dirty="0">
                <a:latin typeface="Arial MT"/>
                <a:cs typeface="Arial MT"/>
              </a:rPr>
              <a:t> </a:t>
            </a:r>
            <a:r>
              <a:rPr sz="2750" b="1" spc="-10" dirty="0">
                <a:latin typeface="Arial MT"/>
                <a:cs typeface="Arial MT"/>
              </a:rPr>
              <a:t>Resolver</a:t>
            </a:r>
            <a:r>
              <a:rPr sz="2750" spc="-10" dirty="0">
                <a:latin typeface="Arial MT"/>
                <a:cs typeface="Arial MT"/>
              </a:rPr>
              <a:t>.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327" y="2549172"/>
            <a:ext cx="7272655" cy="725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825"/>
              </a:lnSpc>
              <a:spcBef>
                <a:spcPts val="125"/>
              </a:spcBef>
            </a:pPr>
            <a:r>
              <a:rPr sz="2750" dirty="0">
                <a:latin typeface="Arial MT"/>
                <a:cs typeface="Arial MT"/>
              </a:rPr>
              <a:t>Cada</a:t>
            </a:r>
            <a:r>
              <a:rPr sz="2750" spc="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campo</a:t>
            </a:r>
            <a:r>
              <a:rPr sz="2750" spc="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del</a:t>
            </a:r>
            <a:r>
              <a:rPr sz="2750" spc="-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schema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está</a:t>
            </a:r>
            <a:endParaRPr sz="2750">
              <a:latin typeface="Arial MT"/>
              <a:cs typeface="Arial MT"/>
            </a:endParaRPr>
          </a:p>
          <a:p>
            <a:pPr marL="5525135">
              <a:lnSpc>
                <a:spcPts val="2645"/>
              </a:lnSpc>
            </a:pPr>
            <a:r>
              <a:rPr sz="2600" spc="-85" dirty="0">
                <a:latin typeface="Arial MT"/>
                <a:cs typeface="Arial MT"/>
              </a:rPr>
              <a:t>Cliente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80" dirty="0">
                <a:latin typeface="Arial MT"/>
                <a:cs typeface="Arial MT"/>
              </a:rPr>
              <a:t>envía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026" y="3233710"/>
            <a:ext cx="1157788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b="1" spc="-25" dirty="0">
                <a:latin typeface="Arial MT"/>
                <a:cs typeface="Arial MT"/>
              </a:rPr>
              <a:t> '</a:t>
            </a:r>
            <a:r>
              <a:rPr sz="2500" b="1" spc="-25" dirty="0">
                <a:latin typeface="Arial MT"/>
                <a:cs typeface="Arial MT"/>
              </a:rPr>
              <a:t>Query</a:t>
            </a:r>
            <a:r>
              <a:rPr lang="es-ES" sz="2500" b="1" spc="-25" dirty="0">
                <a:latin typeface="Arial MT"/>
                <a:cs typeface="Arial MT"/>
              </a:rPr>
              <a:t>'</a:t>
            </a:r>
            <a:endParaRPr sz="2500" b="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4341" y="8074730"/>
            <a:ext cx="2115185" cy="785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980"/>
              </a:lnSpc>
              <a:spcBef>
                <a:spcPts val="120"/>
              </a:spcBef>
            </a:pPr>
            <a:r>
              <a:rPr sz="2550" spc="-254" dirty="0">
                <a:latin typeface="Arial MT"/>
                <a:cs typeface="Arial MT"/>
              </a:rPr>
              <a:t>Se</a:t>
            </a:r>
            <a:r>
              <a:rPr sz="2550" spc="6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construye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la</a:t>
            </a:r>
            <a:endParaRPr sz="2550" dirty="0">
              <a:latin typeface="Arial MT"/>
              <a:cs typeface="Arial MT"/>
            </a:endParaRPr>
          </a:p>
          <a:p>
            <a:pPr marR="31750" algn="ctr">
              <a:lnSpc>
                <a:spcPts val="2980"/>
              </a:lnSpc>
            </a:pPr>
            <a:r>
              <a:rPr lang="es-ES" sz="2550" b="1" spc="-25" dirty="0">
                <a:latin typeface="Arial MT"/>
                <a:cs typeface="Arial MT"/>
              </a:rPr>
              <a:t>'</a:t>
            </a:r>
            <a:r>
              <a:rPr sz="2550" b="1" spc="-25" dirty="0">
                <a:latin typeface="Arial MT"/>
                <a:cs typeface="Arial MT"/>
              </a:rPr>
              <a:t>Respuesta</a:t>
            </a:r>
            <a:r>
              <a:rPr lang="es-ES" sz="2550" b="1" spc="-25" dirty="0">
                <a:latin typeface="Arial MT"/>
                <a:cs typeface="Arial MT"/>
              </a:rPr>
              <a:t>'</a:t>
            </a:r>
            <a:endParaRPr sz="2550" b="1" dirty="0">
              <a:latin typeface="Arial MT"/>
              <a:cs typeface="Arial MT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B9895A7-62F3-418D-2E2E-9A46DE3DEC95}"/>
              </a:ext>
            </a:extLst>
          </p:cNvPr>
          <p:cNvSpPr/>
          <p:nvPr/>
        </p:nvSpPr>
        <p:spPr>
          <a:xfrm>
            <a:off x="14528800" y="2911757"/>
            <a:ext cx="609600" cy="913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object 9"/>
          <p:cNvSpPr txBox="1"/>
          <p:nvPr/>
        </p:nvSpPr>
        <p:spPr>
          <a:xfrm>
            <a:off x="13189058" y="2757161"/>
            <a:ext cx="2098675" cy="1143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9240" marR="5080" indent="-257175">
              <a:lnSpc>
                <a:spcPts val="2900"/>
              </a:lnSpc>
              <a:spcBef>
                <a:spcPts val="280"/>
              </a:spcBef>
            </a:pPr>
            <a:r>
              <a:rPr sz="2500" spc="-160" dirty="0">
                <a:latin typeface="Arial MT"/>
                <a:cs typeface="Arial MT"/>
              </a:rPr>
              <a:t>Se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ejecutan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75" dirty="0" err="1">
                <a:latin typeface="Arial MT"/>
                <a:cs typeface="Arial MT"/>
              </a:rPr>
              <a:t>los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lang="es-ES" sz="2550" b="1" spc="-10" dirty="0">
                <a:latin typeface="Arial MT"/>
                <a:cs typeface="Arial MT"/>
              </a:rPr>
              <a:t>'</a:t>
            </a:r>
            <a:r>
              <a:rPr sz="2550" b="1" spc="-10" dirty="0">
                <a:latin typeface="Arial MT"/>
                <a:cs typeface="Arial MT"/>
              </a:rPr>
              <a:t>Resolver</a:t>
            </a:r>
            <a:r>
              <a:rPr lang="es-ES" sz="2550" b="1" spc="-10" dirty="0">
                <a:latin typeface="Arial MT"/>
                <a:cs typeface="Arial MT"/>
              </a:rPr>
              <a:t>'</a:t>
            </a:r>
            <a:r>
              <a:rPr sz="2550" b="1" spc="-1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necesarios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642F24-4166-1C8D-DD0B-5934AF6D62AE}"/>
              </a:ext>
            </a:extLst>
          </p:cNvPr>
          <p:cNvSpPr/>
          <p:nvPr/>
        </p:nvSpPr>
        <p:spPr>
          <a:xfrm>
            <a:off x="10947400" y="3274342"/>
            <a:ext cx="342900" cy="551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object 7"/>
          <p:cNvSpPr txBox="1"/>
          <p:nvPr/>
        </p:nvSpPr>
        <p:spPr>
          <a:xfrm>
            <a:off x="9429442" y="2683783"/>
            <a:ext cx="2231390" cy="115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 marR="5080" indent="-76200">
              <a:lnSpc>
                <a:spcPct val="106400"/>
              </a:lnSpc>
              <a:spcBef>
                <a:spcPts val="95"/>
              </a:spcBef>
            </a:pPr>
            <a:r>
              <a:rPr sz="2350" spc="-10" dirty="0">
                <a:latin typeface="Arial MT"/>
                <a:cs typeface="Arial MT"/>
              </a:rPr>
              <a:t>GraphQL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Engine </a:t>
            </a:r>
            <a:r>
              <a:rPr sz="2350" dirty="0">
                <a:latin typeface="Arial MT"/>
                <a:cs typeface="Arial MT"/>
              </a:rPr>
              <a:t>valida</a:t>
            </a:r>
            <a:r>
              <a:rPr sz="2350" spc="204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contra</a:t>
            </a:r>
            <a:r>
              <a:rPr sz="2350" spc="24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el</a:t>
            </a:r>
            <a:endParaRPr sz="2350" dirty="0">
              <a:latin typeface="Arial MT"/>
              <a:cs typeface="Arial MT"/>
            </a:endParaRPr>
          </a:p>
          <a:p>
            <a:pPr marL="463550">
              <a:lnSpc>
                <a:spcPct val="100000"/>
              </a:lnSpc>
              <a:spcBef>
                <a:spcPts val="80"/>
              </a:spcBef>
            </a:pPr>
            <a:r>
              <a:rPr lang="es-ES" sz="2350" b="1" spc="-10" dirty="0">
                <a:latin typeface="Arial MT"/>
                <a:cs typeface="Arial MT"/>
              </a:rPr>
              <a:t>'</a:t>
            </a:r>
            <a:r>
              <a:rPr sz="2350" b="1" spc="-10" dirty="0">
                <a:latin typeface="Arial MT"/>
                <a:cs typeface="Arial MT"/>
              </a:rPr>
              <a:t>Schema</a:t>
            </a:r>
            <a:r>
              <a:rPr lang="es-ES" sz="2350" b="1" spc="-10" dirty="0">
                <a:latin typeface="Arial MT"/>
                <a:cs typeface="Arial MT"/>
              </a:rPr>
              <a:t>'</a:t>
            </a:r>
            <a:endParaRPr sz="235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567D1A-6A51-1BF0-34DC-2255134C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513D451-CA59-5341-091F-ED6724CD7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7726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5850"/>
              </a:lnSpc>
              <a:spcBef>
                <a:spcPts val="125"/>
              </a:spcBef>
            </a:pPr>
            <a:r>
              <a:rPr lang="es-ES" sz="5400" b="1" dirty="0" err="1"/>
              <a:t>Scalars</a:t>
            </a:r>
            <a:r>
              <a:rPr lang="es-ES" sz="5400" b="1" dirty="0"/>
              <a:t> personalizados en </a:t>
            </a:r>
            <a:r>
              <a:rPr lang="es-ES" sz="5400" b="1" dirty="0" err="1"/>
              <a:t>GraphQL</a:t>
            </a:r>
            <a:endParaRPr sz="5450" b="1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DEC8372-E6B4-DB16-1FAF-52F8584B2F9D}"/>
              </a:ext>
            </a:extLst>
          </p:cNvPr>
          <p:cNvSpPr txBox="1"/>
          <p:nvPr/>
        </p:nvSpPr>
        <p:spPr>
          <a:xfrm>
            <a:off x="696608" y="1524000"/>
            <a:ext cx="11774791" cy="6910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s-ES" sz="2800" b="1" dirty="0"/>
              <a:t>Tipos por defecto</a:t>
            </a:r>
          </a:p>
          <a:p>
            <a:endParaRPr lang="es-E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GraphQL</a:t>
            </a:r>
            <a:r>
              <a:rPr lang="es-ES" sz="2800" dirty="0"/>
              <a:t> incluye: </a:t>
            </a:r>
            <a:r>
              <a:rPr lang="es-ES" sz="2800" dirty="0" err="1"/>
              <a:t>String</a:t>
            </a:r>
            <a:r>
              <a:rPr lang="es-ES" sz="2800" dirty="0"/>
              <a:t>, </a:t>
            </a:r>
            <a:r>
              <a:rPr lang="es-ES" sz="2800" dirty="0" err="1"/>
              <a:t>Int</a:t>
            </a:r>
            <a:r>
              <a:rPr lang="es-ES" sz="2800" dirty="0"/>
              <a:t>, </a:t>
            </a:r>
            <a:r>
              <a:rPr lang="es-ES" sz="2800" dirty="0" err="1"/>
              <a:t>Boolean</a:t>
            </a: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Insuficientes para fechas y dinero.</a:t>
            </a:r>
            <a:br>
              <a:rPr lang="es-ES" sz="2800" dirty="0"/>
            </a:br>
            <a:endParaRPr lang="es-ES" sz="2800" dirty="0"/>
          </a:p>
          <a:p>
            <a:r>
              <a:rPr lang="es-ES" sz="2800" b="1" dirty="0"/>
              <a:t>¿Qué son los </a:t>
            </a:r>
            <a:r>
              <a:rPr lang="es-ES" sz="2800" b="1" dirty="0" err="1"/>
              <a:t>Scalars</a:t>
            </a:r>
            <a:r>
              <a:rPr lang="es-ES" sz="2800" b="1" dirty="0"/>
              <a:t>?</a:t>
            </a:r>
          </a:p>
          <a:p>
            <a:endParaRPr lang="es-ES" sz="2800" b="1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/>
              <a:t>Tipos personalizados que permiten manejar datos complejos de forma segura.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/>
              <a:t>Se registran en </a:t>
            </a:r>
            <a:r>
              <a:rPr lang="es-ES" sz="2800" b="1" dirty="0" err="1"/>
              <a:t>GraphQLScalarConfig.java</a:t>
            </a:r>
            <a:r>
              <a:rPr lang="es-ES" sz="2800" dirty="0"/>
              <a:t>. (En nuestra demo)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dirty="0"/>
              <a:t>Se definen en el </a:t>
            </a:r>
            <a:r>
              <a:rPr lang="es-ES" sz="2800" dirty="0" err="1"/>
              <a:t>schema</a:t>
            </a:r>
            <a:r>
              <a:rPr lang="es-ES" sz="2800" dirty="0"/>
              <a:t>.</a:t>
            </a:r>
            <a:br>
              <a:rPr lang="es-ES" sz="2800" dirty="0"/>
            </a:br>
            <a:endParaRPr lang="es-ES" sz="2800" dirty="0"/>
          </a:p>
          <a:p>
            <a:r>
              <a:rPr lang="es-ES" sz="2800" b="1" dirty="0" err="1"/>
              <a:t>Scalars</a:t>
            </a:r>
            <a:r>
              <a:rPr lang="es-ES" sz="2800" b="1" dirty="0"/>
              <a:t> clave</a:t>
            </a:r>
          </a:p>
          <a:p>
            <a:endParaRPr lang="es-ES" sz="2800" b="1" dirty="0"/>
          </a:p>
          <a:p>
            <a:pPr marL="457200" lvl="6" indent="-457200">
              <a:buFont typeface="Arial" panose="020B0604020202020204" pitchFamily="34" charset="0"/>
              <a:buChar char="•"/>
            </a:pPr>
            <a:r>
              <a:rPr lang="es-ES" sz="2800" dirty="0"/>
              <a:t>Date</a:t>
            </a:r>
          </a:p>
          <a:p>
            <a:pPr marL="457200" lvl="6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BigDecimal</a:t>
            </a:r>
            <a:endParaRPr lang="es-ES" sz="2800" dirty="0"/>
          </a:p>
        </p:txBody>
      </p:sp>
      <p:pic>
        <p:nvPicPr>
          <p:cNvPr id="13" name="Imagen 1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D67B0CA-9EE6-2852-56F9-691C31067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6477000"/>
            <a:ext cx="8334619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66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1488" y="2711408"/>
            <a:ext cx="8953500" cy="4445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460500"/>
            <a:ext cx="63500" cy="12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4863" y="546452"/>
            <a:ext cx="8191337" cy="158056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51435" marR="5080" indent="-39370">
              <a:lnSpc>
                <a:spcPts val="5650"/>
              </a:lnSpc>
              <a:spcBef>
                <a:spcPts val="925"/>
              </a:spcBef>
            </a:pPr>
            <a:r>
              <a:rPr sz="5350" b="1" dirty="0">
                <a:solidFill>
                  <a:srgbClr val="181818"/>
                </a:solidFill>
              </a:rPr>
              <a:t>Integración</a:t>
            </a:r>
            <a:r>
              <a:rPr sz="5350" b="1" spc="545" dirty="0">
                <a:solidFill>
                  <a:srgbClr val="181818"/>
                </a:solidFill>
              </a:rPr>
              <a:t> </a:t>
            </a:r>
            <a:r>
              <a:rPr sz="5350" b="1" dirty="0">
                <a:solidFill>
                  <a:srgbClr val="1A1A1A"/>
                </a:solidFill>
              </a:rPr>
              <a:t>natural</a:t>
            </a:r>
            <a:r>
              <a:rPr sz="5350" b="1" spc="165" dirty="0">
                <a:solidFill>
                  <a:srgbClr val="1A1A1A"/>
                </a:solidFill>
              </a:rPr>
              <a:t> </a:t>
            </a:r>
            <a:r>
              <a:rPr sz="5350" b="1" spc="55" dirty="0">
                <a:solidFill>
                  <a:srgbClr val="1A1A1A"/>
                </a:solidFill>
              </a:rPr>
              <a:t>con </a:t>
            </a:r>
            <a:r>
              <a:rPr sz="5350" b="1" spc="65" dirty="0">
                <a:solidFill>
                  <a:srgbClr val="1A1A1A"/>
                </a:solidFill>
              </a:rPr>
              <a:t>Arquitectura</a:t>
            </a:r>
            <a:r>
              <a:rPr sz="5350" b="1" spc="130" dirty="0">
                <a:solidFill>
                  <a:srgbClr val="1A1A1A"/>
                </a:solidFill>
              </a:rPr>
              <a:t> </a:t>
            </a:r>
            <a:r>
              <a:rPr sz="5350" b="1" spc="-10" dirty="0">
                <a:solidFill>
                  <a:srgbClr val="1A1A1A"/>
                </a:solidFill>
              </a:rPr>
              <a:t>Hexagonal</a:t>
            </a:r>
            <a:endParaRPr sz="5350" b="1" dirty="0"/>
          </a:p>
        </p:txBody>
      </p:sp>
      <p:sp>
        <p:nvSpPr>
          <p:cNvPr id="5" name="object 5"/>
          <p:cNvSpPr txBox="1"/>
          <p:nvPr/>
        </p:nvSpPr>
        <p:spPr>
          <a:xfrm>
            <a:off x="793971" y="3317791"/>
            <a:ext cx="6271260" cy="25768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3200" spc="-120" dirty="0">
                <a:solidFill>
                  <a:srgbClr val="0C0C0C"/>
                </a:solidFill>
                <a:latin typeface="Arial MT"/>
                <a:cs typeface="Arial MT"/>
              </a:rPr>
              <a:t>GraphQL</a:t>
            </a:r>
            <a:r>
              <a:rPr sz="32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200" spc="-55" dirty="0">
                <a:solidFill>
                  <a:srgbClr val="0E0E0E"/>
                </a:solidFill>
                <a:latin typeface="Arial MT"/>
                <a:cs typeface="Arial MT"/>
              </a:rPr>
              <a:t>encaja</a:t>
            </a:r>
            <a:r>
              <a:rPr sz="3200" spc="-9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perfectamente</a:t>
            </a:r>
            <a:endParaRPr sz="3200" dirty="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260"/>
              </a:spcBef>
            </a:pP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como</a:t>
            </a:r>
            <a:r>
              <a:rPr sz="3100" spc="1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un </a:t>
            </a:r>
            <a:r>
              <a:rPr sz="3100" b="1" dirty="0">
                <a:latin typeface="Arial MT"/>
                <a:cs typeface="Arial MT"/>
              </a:rPr>
              <a:t>adaptador</a:t>
            </a:r>
            <a:r>
              <a:rPr sz="3100" b="1" spc="310" dirty="0">
                <a:latin typeface="Arial MT"/>
                <a:cs typeface="Arial MT"/>
              </a:rPr>
              <a:t> </a:t>
            </a:r>
            <a:r>
              <a:rPr sz="3100" b="1" dirty="0">
                <a:solidFill>
                  <a:srgbClr val="131313"/>
                </a:solidFill>
                <a:latin typeface="Arial MT"/>
                <a:cs typeface="Arial MT"/>
              </a:rPr>
              <a:t>de</a:t>
            </a:r>
            <a:r>
              <a:rPr sz="3100" b="1" spc="-1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3100" b="1" spc="-10" dirty="0">
                <a:solidFill>
                  <a:srgbClr val="0F0F0F"/>
                </a:solidFill>
                <a:latin typeface="Arial MT"/>
                <a:cs typeface="Arial MT"/>
              </a:rPr>
              <a:t>entrada</a:t>
            </a:r>
            <a:r>
              <a:rPr sz="3100" spc="-10" dirty="0">
                <a:solidFill>
                  <a:srgbClr val="0F0F0F"/>
                </a:solidFill>
                <a:latin typeface="Arial MT"/>
                <a:cs typeface="Arial MT"/>
              </a:rPr>
              <a:t>.</a:t>
            </a:r>
            <a:endParaRPr sz="3100" dirty="0">
              <a:latin typeface="Arial MT"/>
              <a:cs typeface="Arial MT"/>
            </a:endParaRPr>
          </a:p>
          <a:p>
            <a:pPr marL="19685" marR="5080" indent="-4445">
              <a:lnSpc>
                <a:spcPct val="103499"/>
              </a:lnSpc>
              <a:spcBef>
                <a:spcPts val="45"/>
              </a:spcBef>
            </a:pPr>
            <a:r>
              <a:rPr sz="3200" spc="-90" dirty="0">
                <a:latin typeface="Arial MT"/>
                <a:cs typeface="Arial MT"/>
              </a:rPr>
              <a:t>No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E0E0E"/>
                </a:solidFill>
                <a:latin typeface="Arial MT"/>
                <a:cs typeface="Arial MT"/>
              </a:rPr>
              <a:t>contiene</a:t>
            </a:r>
            <a:r>
              <a:rPr sz="3200" spc="-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latin typeface="Arial MT"/>
                <a:cs typeface="Arial MT"/>
              </a:rPr>
              <a:t>lógica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negocio, </a:t>
            </a:r>
            <a:r>
              <a:rPr sz="3200" spc="-45" dirty="0">
                <a:solidFill>
                  <a:srgbClr val="111111"/>
                </a:solidFill>
                <a:latin typeface="Arial MT"/>
                <a:cs typeface="Arial MT"/>
              </a:rPr>
              <a:t>solo </a:t>
            </a:r>
            <a:r>
              <a:rPr sz="3200" spc="-25" dirty="0">
                <a:latin typeface="Arial MT"/>
                <a:cs typeface="Arial MT"/>
              </a:rPr>
              <a:t>orquesta</a:t>
            </a:r>
            <a:r>
              <a:rPr sz="3200" spc="-150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las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llamadas</a:t>
            </a:r>
            <a:r>
              <a:rPr sz="3200" spc="-125" dirty="0"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0C0C0C"/>
                </a:solidFill>
                <a:latin typeface="Arial MT"/>
                <a:cs typeface="Arial MT"/>
              </a:rPr>
              <a:t>hacia</a:t>
            </a:r>
            <a:r>
              <a:rPr sz="3200" spc="-114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C0C0C"/>
                </a:solidFill>
                <a:latin typeface="Arial MT"/>
                <a:cs typeface="Arial MT"/>
              </a:rPr>
              <a:t>el </a:t>
            </a:r>
            <a:r>
              <a:rPr sz="3250" spc="-10" dirty="0">
                <a:latin typeface="Arial MT"/>
                <a:cs typeface="Arial MT"/>
              </a:rPr>
              <a:t>dominio.</a:t>
            </a:r>
            <a:endParaRPr sz="32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00731" y="3929515"/>
            <a:ext cx="201366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b="1" spc="-40" dirty="0">
                <a:solidFill>
                  <a:srgbClr val="081F34"/>
                </a:solidFill>
                <a:latin typeface="Arial MT"/>
                <a:cs typeface="Arial MT"/>
              </a:rPr>
              <a:t>Casos</a:t>
            </a:r>
            <a:r>
              <a:rPr sz="3100" b="1" spc="-170" dirty="0">
                <a:solidFill>
                  <a:srgbClr val="081F34"/>
                </a:solidFill>
                <a:latin typeface="Arial MT"/>
                <a:cs typeface="Arial MT"/>
              </a:rPr>
              <a:t> </a:t>
            </a:r>
            <a:r>
              <a:rPr sz="3100" b="1" spc="-25" dirty="0">
                <a:solidFill>
                  <a:srgbClr val="081C31"/>
                </a:solidFill>
                <a:latin typeface="Arial MT"/>
                <a:cs typeface="Arial MT"/>
              </a:rPr>
              <a:t>de</a:t>
            </a:r>
            <a:endParaRPr sz="3100" b="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1390" y="5217673"/>
            <a:ext cx="2063009" cy="8887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529"/>
              </a:lnSpc>
              <a:spcBef>
                <a:spcPts val="130"/>
              </a:spcBef>
            </a:pPr>
            <a:r>
              <a:rPr sz="3300" b="1" spc="-105" dirty="0">
                <a:solidFill>
                  <a:srgbClr val="082138"/>
                </a:solidFill>
                <a:latin typeface="Arial MT"/>
                <a:cs typeface="Arial MT"/>
              </a:rPr>
              <a:t>Lógica</a:t>
            </a:r>
            <a:r>
              <a:rPr sz="3300" b="1" spc="-100" dirty="0">
                <a:solidFill>
                  <a:srgbClr val="082138"/>
                </a:solidFill>
                <a:latin typeface="Arial MT"/>
                <a:cs typeface="Arial MT"/>
              </a:rPr>
              <a:t> </a:t>
            </a:r>
            <a:r>
              <a:rPr sz="3300" b="1" spc="-25" dirty="0">
                <a:solidFill>
                  <a:srgbClr val="08213B"/>
                </a:solidFill>
                <a:latin typeface="Arial MT"/>
                <a:cs typeface="Arial MT"/>
              </a:rPr>
              <a:t>de</a:t>
            </a:r>
            <a:endParaRPr sz="3300" b="1" dirty="0">
              <a:latin typeface="Arial MT"/>
              <a:cs typeface="Arial MT"/>
            </a:endParaRPr>
          </a:p>
          <a:p>
            <a:pPr marL="139700">
              <a:lnSpc>
                <a:spcPts val="3290"/>
              </a:lnSpc>
            </a:pPr>
            <a:r>
              <a:rPr sz="3100" b="1" spc="-10" dirty="0">
                <a:solidFill>
                  <a:srgbClr val="051C33"/>
                </a:solidFill>
                <a:latin typeface="Arial MT"/>
                <a:cs typeface="Arial MT"/>
              </a:rPr>
              <a:t>Dominio</a:t>
            </a:r>
            <a:endParaRPr sz="3100" b="1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95279" y="4352248"/>
            <a:ext cx="1885950" cy="11633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ct val="91000"/>
              </a:lnSpc>
              <a:spcBef>
                <a:spcPts val="425"/>
              </a:spcBef>
            </a:pPr>
            <a:r>
              <a:rPr sz="2750" spc="-95" dirty="0">
                <a:solidFill>
                  <a:srgbClr val="0F0F0F"/>
                </a:solidFill>
                <a:latin typeface="Arial MT"/>
                <a:cs typeface="Arial MT"/>
              </a:rPr>
              <a:t>Adaptadores </a:t>
            </a:r>
            <a:r>
              <a:rPr sz="2550" dirty="0">
                <a:solidFill>
                  <a:srgbClr val="131313"/>
                </a:solidFill>
                <a:latin typeface="Arial MT"/>
                <a:cs typeface="Arial MT"/>
              </a:rPr>
              <a:t>de</a:t>
            </a:r>
            <a:r>
              <a:rPr sz="2550" spc="1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050505"/>
                </a:solidFill>
                <a:latin typeface="Arial MT"/>
                <a:cs typeface="Arial MT"/>
              </a:rPr>
              <a:t>Salida </a:t>
            </a:r>
            <a:r>
              <a:rPr sz="2600" spc="-114" dirty="0">
                <a:solidFill>
                  <a:srgbClr val="0C0C0C"/>
                </a:solidFill>
                <a:latin typeface="Arial MT"/>
                <a:cs typeface="Arial MT"/>
              </a:rPr>
              <a:t>(BBDD,</a:t>
            </a:r>
            <a:r>
              <a:rPr sz="2600" spc="-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600" spc="-120" dirty="0">
                <a:solidFill>
                  <a:srgbClr val="070707"/>
                </a:solidFill>
                <a:latin typeface="Arial MT"/>
                <a:cs typeface="Arial MT"/>
              </a:rPr>
              <a:t>APIs)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FF414A-534D-E1FC-33A0-6CB4B85FDC56}"/>
              </a:ext>
            </a:extLst>
          </p:cNvPr>
          <p:cNvSpPr/>
          <p:nvPr/>
        </p:nvSpPr>
        <p:spPr>
          <a:xfrm>
            <a:off x="8509000" y="4433259"/>
            <a:ext cx="1600200" cy="443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023629-D47D-B58A-613E-2F20F67BDFB9}"/>
              </a:ext>
            </a:extLst>
          </p:cNvPr>
          <p:cNvSpPr txBox="1"/>
          <p:nvPr/>
        </p:nvSpPr>
        <p:spPr>
          <a:xfrm>
            <a:off x="8350990" y="4430705"/>
            <a:ext cx="32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err="1"/>
              <a:t>GraphQL</a:t>
            </a:r>
            <a:endParaRPr lang="es-ES" sz="3200" b="1" dirty="0"/>
          </a:p>
          <a:p>
            <a:r>
              <a:rPr lang="es-ES" sz="3200" b="1" dirty="0"/>
              <a:t> </a:t>
            </a:r>
            <a:r>
              <a:rPr lang="es-ES" sz="3200" b="1" dirty="0" err="1"/>
              <a:t>Adapter</a:t>
            </a:r>
            <a:endParaRPr lang="es-ES" sz="3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1230820"/>
          </a:xfrm>
          <a:prstGeom prst="rect">
            <a:avLst/>
          </a:prstGeom>
        </p:spPr>
        <p:txBody>
          <a:bodyPr vert="horz" wrap="square" lIns="0" tIns="365477" rIns="0" bIns="0" rtlCol="0">
            <a:spAutoFit/>
          </a:bodyPr>
          <a:lstStyle/>
          <a:p>
            <a:pPr marL="1607820">
              <a:lnSpc>
                <a:spcPct val="100000"/>
              </a:lnSpc>
              <a:spcBef>
                <a:spcPts val="125"/>
              </a:spcBef>
            </a:pPr>
            <a:r>
              <a:rPr sz="5600" b="1" spc="110" dirty="0">
                <a:solidFill>
                  <a:srgbClr val="000000"/>
                </a:solidFill>
                <a:latin typeface="Calibri"/>
                <a:cs typeface="Calibri"/>
              </a:rPr>
              <a:t>GraphQL</a:t>
            </a:r>
            <a:r>
              <a:rPr sz="5600" b="1" spc="3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600" b="1" spc="1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5600" b="1" spc="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600" b="1" spc="300" dirty="0">
                <a:solidFill>
                  <a:srgbClr val="000000"/>
                </a:solidFill>
                <a:latin typeface="Calibri"/>
                <a:cs typeface="Calibri"/>
              </a:rPr>
              <a:t>CQRS:</a:t>
            </a:r>
            <a:r>
              <a:rPr sz="5600" b="1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600" b="1" spc="215" dirty="0">
                <a:solidFill>
                  <a:srgbClr val="000000"/>
                </a:solidFill>
                <a:latin typeface="Calibri"/>
                <a:cs typeface="Calibri"/>
              </a:rPr>
              <a:t>Una</a:t>
            </a:r>
            <a:r>
              <a:rPr sz="5600" b="1" spc="-2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600" b="1" spc="155" dirty="0">
                <a:solidFill>
                  <a:srgbClr val="000000"/>
                </a:solidFill>
                <a:latin typeface="Calibri"/>
                <a:cs typeface="Calibri"/>
              </a:rPr>
              <a:t>alineación</a:t>
            </a:r>
            <a:r>
              <a:rPr sz="56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600" b="1" spc="200" dirty="0">
                <a:solidFill>
                  <a:srgbClr val="000000"/>
                </a:solidFill>
                <a:latin typeface="Calibri"/>
                <a:cs typeface="Calibri"/>
              </a:rPr>
              <a:t>perfecta</a:t>
            </a:r>
            <a:endParaRPr sz="56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15" y="2176286"/>
            <a:ext cx="13707110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315" marR="5080" indent="-730250">
              <a:lnSpc>
                <a:spcPct val="106200"/>
              </a:lnSpc>
              <a:spcBef>
                <a:spcPts val="90"/>
              </a:spcBef>
              <a:tabLst>
                <a:tab pos="10469880" algn="l"/>
              </a:tabLst>
            </a:pPr>
            <a:r>
              <a:rPr sz="3650" spc="-430" dirty="0">
                <a:latin typeface="Arial MT"/>
                <a:cs typeface="Arial MT"/>
              </a:rPr>
              <a:t>CQRS</a:t>
            </a:r>
            <a:r>
              <a:rPr sz="3650" spc="175" dirty="0">
                <a:latin typeface="Arial MT"/>
                <a:cs typeface="Arial MT"/>
              </a:rPr>
              <a:t> </a:t>
            </a:r>
            <a:r>
              <a:rPr sz="3650" spc="-135" dirty="0">
                <a:latin typeface="Arial MT"/>
                <a:cs typeface="Arial MT"/>
              </a:rPr>
              <a:t>(Command</a:t>
            </a:r>
            <a:r>
              <a:rPr sz="3650" spc="-114" dirty="0">
                <a:latin typeface="Arial MT"/>
                <a:cs typeface="Arial MT"/>
              </a:rPr>
              <a:t> </a:t>
            </a:r>
            <a:r>
              <a:rPr sz="3650" spc="-105" dirty="0">
                <a:latin typeface="Arial MT"/>
                <a:cs typeface="Arial MT"/>
              </a:rPr>
              <a:t>Query</a:t>
            </a:r>
            <a:r>
              <a:rPr sz="3650" spc="-75" dirty="0">
                <a:latin typeface="Arial MT"/>
                <a:cs typeface="Arial MT"/>
              </a:rPr>
              <a:t> </a:t>
            </a:r>
            <a:r>
              <a:rPr sz="3650" spc="-65" dirty="0">
                <a:latin typeface="Arial MT"/>
                <a:cs typeface="Arial MT"/>
              </a:rPr>
              <a:t>Responsibility</a:t>
            </a:r>
            <a:r>
              <a:rPr sz="3650" spc="-155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Segregation)</a:t>
            </a:r>
            <a:r>
              <a:rPr sz="3650" dirty="0">
                <a:latin typeface="Arial MT"/>
                <a:cs typeface="Arial MT"/>
              </a:rPr>
              <a:t>	</a:t>
            </a:r>
            <a:r>
              <a:rPr sz="3650" spc="-40" dirty="0">
                <a:latin typeface="Arial MT"/>
                <a:cs typeface="Arial MT"/>
              </a:rPr>
              <a:t>propone</a:t>
            </a:r>
            <a:r>
              <a:rPr sz="3650" spc="-100" dirty="0">
                <a:latin typeface="Arial MT"/>
                <a:cs typeface="Arial MT"/>
              </a:rPr>
              <a:t> </a:t>
            </a:r>
            <a:r>
              <a:rPr sz="3650" spc="-150" dirty="0">
                <a:latin typeface="Arial MT"/>
                <a:cs typeface="Arial MT"/>
              </a:rPr>
              <a:t>separar </a:t>
            </a:r>
            <a:r>
              <a:rPr sz="3650" spc="-10" dirty="0">
                <a:latin typeface="Arial MT"/>
                <a:cs typeface="Arial MT"/>
              </a:rPr>
              <a:t>lectura</a:t>
            </a:r>
            <a:r>
              <a:rPr sz="3650" spc="-235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de</a:t>
            </a:r>
            <a:r>
              <a:rPr sz="3650" spc="-250" dirty="0">
                <a:latin typeface="Arial MT"/>
                <a:cs typeface="Arial MT"/>
              </a:rPr>
              <a:t> </a:t>
            </a:r>
            <a:r>
              <a:rPr sz="3650" spc="-45" dirty="0">
                <a:latin typeface="Arial MT"/>
                <a:cs typeface="Arial MT"/>
              </a:rPr>
              <a:t>escritura.</a:t>
            </a:r>
            <a:r>
              <a:rPr sz="3650" spc="-175" dirty="0">
                <a:latin typeface="Arial MT"/>
                <a:cs typeface="Arial MT"/>
              </a:rPr>
              <a:t> </a:t>
            </a:r>
            <a:r>
              <a:rPr sz="3650" spc="-195" dirty="0">
                <a:latin typeface="Arial MT"/>
                <a:cs typeface="Arial MT"/>
              </a:rPr>
              <a:t>GraphQL</a:t>
            </a:r>
            <a:r>
              <a:rPr sz="3650" spc="-60" dirty="0">
                <a:latin typeface="Arial MT"/>
                <a:cs typeface="Arial MT"/>
              </a:rPr>
              <a:t> </a:t>
            </a:r>
            <a:r>
              <a:rPr sz="3650" spc="-145" dirty="0">
                <a:latin typeface="Arial MT"/>
                <a:cs typeface="Arial MT"/>
              </a:rPr>
              <a:t>Io</a:t>
            </a:r>
            <a:r>
              <a:rPr sz="3650" spc="-110" dirty="0">
                <a:latin typeface="Arial MT"/>
                <a:cs typeface="Arial MT"/>
              </a:rPr>
              <a:t> </a:t>
            </a:r>
            <a:r>
              <a:rPr sz="3650" spc="-75" dirty="0">
                <a:latin typeface="Arial MT"/>
                <a:cs typeface="Arial MT"/>
              </a:rPr>
              <a:t>implementa</a:t>
            </a:r>
            <a:r>
              <a:rPr sz="3650" spc="114" dirty="0">
                <a:latin typeface="Arial MT"/>
                <a:cs typeface="Arial MT"/>
              </a:rPr>
              <a:t> </a:t>
            </a:r>
            <a:r>
              <a:rPr sz="3650" dirty="0">
                <a:latin typeface="Arial MT"/>
                <a:cs typeface="Arial MT"/>
              </a:rPr>
              <a:t>de</a:t>
            </a:r>
            <a:r>
              <a:rPr sz="3650" spc="-235" dirty="0">
                <a:latin typeface="Arial MT"/>
                <a:cs typeface="Arial MT"/>
              </a:rPr>
              <a:t> </a:t>
            </a:r>
            <a:r>
              <a:rPr sz="3650" spc="-55" dirty="0">
                <a:latin typeface="Arial MT"/>
                <a:cs typeface="Arial MT"/>
              </a:rPr>
              <a:t>forma</a:t>
            </a:r>
            <a:r>
              <a:rPr sz="3650" spc="-114" dirty="0">
                <a:latin typeface="Arial MT"/>
                <a:cs typeface="Arial MT"/>
              </a:rPr>
              <a:t> </a:t>
            </a:r>
            <a:r>
              <a:rPr sz="3650" spc="-10" dirty="0">
                <a:latin typeface="Arial MT"/>
                <a:cs typeface="Arial MT"/>
              </a:rPr>
              <a:t>natural.</a:t>
            </a:r>
            <a:endParaRPr sz="36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599" y="3966866"/>
            <a:ext cx="5806440" cy="2835275"/>
          </a:xfrm>
          <a:prstGeom prst="rect">
            <a:avLst/>
          </a:prstGeom>
        </p:spPr>
        <p:txBody>
          <a:bodyPr vert="horz" wrap="square" lIns="0" tIns="211455" rIns="0" bIns="0" rtlCol="0">
            <a:spAutoFit/>
          </a:bodyPr>
          <a:lstStyle/>
          <a:p>
            <a:pPr marL="19050" algn="just">
              <a:lnSpc>
                <a:spcPct val="100000"/>
              </a:lnSpc>
              <a:spcBef>
                <a:spcPts val="1665"/>
              </a:spcBef>
            </a:pPr>
            <a:r>
              <a:rPr sz="3950" b="1" spc="65" dirty="0">
                <a:latin typeface="Calibri"/>
                <a:cs typeface="Calibri"/>
              </a:rPr>
              <a:t>Queries</a:t>
            </a:r>
            <a:r>
              <a:rPr sz="3950" b="1" spc="105" dirty="0">
                <a:latin typeface="Calibri"/>
                <a:cs typeface="Calibri"/>
              </a:rPr>
              <a:t> </a:t>
            </a:r>
            <a:r>
              <a:rPr sz="3950" b="1" spc="195" dirty="0">
                <a:latin typeface="Calibri"/>
                <a:cs typeface="Calibri"/>
              </a:rPr>
              <a:t>=</a:t>
            </a:r>
            <a:r>
              <a:rPr sz="3950" b="1" spc="-105" dirty="0">
                <a:latin typeface="Calibri"/>
                <a:cs typeface="Calibri"/>
              </a:rPr>
              <a:t> </a:t>
            </a:r>
            <a:r>
              <a:rPr sz="3950" b="1" spc="135" dirty="0">
                <a:latin typeface="Calibri"/>
                <a:cs typeface="Calibri"/>
              </a:rPr>
              <a:t>Lecturas</a:t>
            </a:r>
            <a:endParaRPr sz="3950" b="1" dirty="0">
              <a:latin typeface="Calibri"/>
              <a:cs typeface="Calibri"/>
            </a:endParaRPr>
          </a:p>
          <a:p>
            <a:pPr marL="17780" marR="5080" indent="-5715" algn="just">
              <a:lnSpc>
                <a:spcPct val="96700"/>
              </a:lnSpc>
              <a:spcBef>
                <a:spcPts val="1770"/>
              </a:spcBef>
            </a:pPr>
            <a:r>
              <a:rPr sz="4100" spc="-125" dirty="0">
                <a:latin typeface="Calibri"/>
                <a:cs typeface="Calibri"/>
              </a:rPr>
              <a:t>Representan</a:t>
            </a:r>
            <a:r>
              <a:rPr sz="4100" spc="-65" dirty="0">
                <a:latin typeface="Calibri"/>
                <a:cs typeface="Calibri"/>
              </a:rPr>
              <a:t> </a:t>
            </a:r>
            <a:r>
              <a:rPr sz="4100" dirty="0">
                <a:latin typeface="Calibri"/>
                <a:cs typeface="Calibri"/>
              </a:rPr>
              <a:t>los</a:t>
            </a:r>
            <a:r>
              <a:rPr sz="4100" spc="-170" dirty="0">
                <a:latin typeface="Calibri"/>
                <a:cs typeface="Calibri"/>
              </a:rPr>
              <a:t> </a:t>
            </a:r>
            <a:r>
              <a:rPr sz="4100" spc="-145" dirty="0">
                <a:latin typeface="Calibri"/>
                <a:cs typeface="Calibri"/>
              </a:rPr>
              <a:t>modelos</a:t>
            </a:r>
            <a:r>
              <a:rPr sz="4100" spc="20" dirty="0">
                <a:latin typeface="Calibri"/>
                <a:cs typeface="Calibri"/>
              </a:rPr>
              <a:t> </a:t>
            </a:r>
            <a:r>
              <a:rPr sz="4100" spc="-25" dirty="0">
                <a:latin typeface="Calibri"/>
                <a:cs typeface="Calibri"/>
              </a:rPr>
              <a:t>de </a:t>
            </a:r>
            <a:r>
              <a:rPr sz="4000" spc="-70" dirty="0">
                <a:latin typeface="Calibri"/>
                <a:cs typeface="Calibri"/>
              </a:rPr>
              <a:t>lectura.</a:t>
            </a:r>
            <a:r>
              <a:rPr sz="4000" spc="-155" dirty="0">
                <a:latin typeface="Calibri"/>
                <a:cs typeface="Calibri"/>
              </a:rPr>
              <a:t> </a:t>
            </a:r>
            <a:r>
              <a:rPr sz="4000" spc="-70" dirty="0">
                <a:latin typeface="Calibri"/>
                <a:cs typeface="Calibri"/>
              </a:rPr>
              <a:t>Optimizadas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55" dirty="0">
                <a:latin typeface="Calibri"/>
                <a:cs typeface="Calibri"/>
              </a:rPr>
              <a:t>para</a:t>
            </a:r>
            <a:r>
              <a:rPr sz="4000" spc="-17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las necesidades</a:t>
            </a:r>
            <a:r>
              <a:rPr sz="4000" spc="3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del</a:t>
            </a:r>
            <a:r>
              <a:rPr sz="4000" spc="-204" dirty="0">
                <a:latin typeface="Calibri"/>
                <a:cs typeface="Calibri"/>
              </a:rPr>
              <a:t> </a:t>
            </a:r>
            <a:r>
              <a:rPr sz="4000" spc="-30" dirty="0">
                <a:latin typeface="Calibri"/>
                <a:cs typeface="Calibri"/>
              </a:rPr>
              <a:t>frontend.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16161" y="3913612"/>
            <a:ext cx="6091555" cy="3696012"/>
          </a:xfrm>
          <a:prstGeom prst="rect">
            <a:avLst/>
          </a:prstGeom>
        </p:spPr>
        <p:txBody>
          <a:bodyPr vert="horz" wrap="square" lIns="0" tIns="27749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2185"/>
              </a:spcBef>
            </a:pPr>
            <a:r>
              <a:rPr sz="3850" b="1" dirty="0">
                <a:latin typeface="Arial MT"/>
                <a:cs typeface="Arial MT"/>
              </a:rPr>
              <a:t>Mutations</a:t>
            </a:r>
            <a:r>
              <a:rPr sz="3850" b="1" spc="130" dirty="0">
                <a:latin typeface="Arial MT"/>
                <a:cs typeface="Arial MT"/>
              </a:rPr>
              <a:t> </a:t>
            </a:r>
            <a:r>
              <a:rPr sz="3850" b="1" spc="-225" dirty="0">
                <a:latin typeface="Arial MT"/>
                <a:cs typeface="Arial MT"/>
              </a:rPr>
              <a:t>=</a:t>
            </a:r>
            <a:r>
              <a:rPr sz="3850" b="1" spc="-20" dirty="0">
                <a:latin typeface="Arial MT"/>
                <a:cs typeface="Arial MT"/>
              </a:rPr>
              <a:t> </a:t>
            </a:r>
            <a:r>
              <a:rPr sz="3850" b="1" spc="-10" dirty="0">
                <a:latin typeface="Arial MT"/>
                <a:cs typeface="Arial MT"/>
              </a:rPr>
              <a:t>Comandos</a:t>
            </a:r>
            <a:endParaRPr sz="3850" b="1" dirty="0">
              <a:latin typeface="Arial MT"/>
              <a:cs typeface="Arial MT"/>
            </a:endParaRPr>
          </a:p>
          <a:p>
            <a:pPr marL="19685" marR="5080" indent="-7620">
              <a:lnSpc>
                <a:spcPct val="106600"/>
              </a:lnSpc>
              <a:spcBef>
                <a:spcPts val="1680"/>
              </a:spcBef>
            </a:pPr>
            <a:r>
              <a:rPr sz="4000" spc="-180" dirty="0">
                <a:latin typeface="Calibri" panose="020F0502020204030204" pitchFamily="34" charset="0"/>
                <a:cs typeface="Calibri" panose="020F0502020204030204" pitchFamily="34" charset="0"/>
              </a:rPr>
              <a:t>Representan</a:t>
            </a:r>
            <a:r>
              <a:rPr sz="40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155" dirty="0">
                <a:latin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sz="4000" spc="-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90" dirty="0">
                <a:latin typeface="Calibri" panose="020F0502020204030204" pitchFamily="34" charset="0"/>
                <a:cs typeface="Calibri" panose="020F0502020204030204" pitchFamily="34" charset="0"/>
              </a:rPr>
              <a:t>intención</a:t>
            </a:r>
            <a:r>
              <a:rPr sz="40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25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4000" dirty="0">
                <a:latin typeface="Calibri" panose="020F0502020204030204" pitchFamily="34" charset="0"/>
                <a:cs typeface="Calibri" panose="020F0502020204030204" pitchFamily="34" charset="0"/>
              </a:rPr>
              <a:t>modificar</a:t>
            </a:r>
            <a:r>
              <a:rPr sz="40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dirty="0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40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20" dirty="0">
                <a:latin typeface="Calibri" panose="020F0502020204030204" pitchFamily="34" charset="0"/>
                <a:cs typeface="Calibri" panose="020F0502020204030204" pitchFamily="34" charset="0"/>
              </a:rPr>
              <a:t>estado.</a:t>
            </a:r>
            <a:r>
              <a:rPr sz="4000" spc="-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10" dirty="0">
                <a:latin typeface="Calibri" panose="020F0502020204030204" pitchFamily="34" charset="0"/>
                <a:cs typeface="Calibri" panose="020F0502020204030204" pitchFamily="34" charset="0"/>
              </a:rPr>
              <a:t>Ejecutan </a:t>
            </a:r>
            <a:r>
              <a:rPr sz="4000" spc="-55" dirty="0">
                <a:latin typeface="Calibri" panose="020F0502020204030204" pitchFamily="34" charset="0"/>
                <a:cs typeface="Calibri" panose="020F0502020204030204" pitchFamily="34" charset="0"/>
              </a:rPr>
              <a:t>reglas</a:t>
            </a:r>
            <a:r>
              <a:rPr sz="4000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35" dirty="0"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sz="4000" spc="-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30" dirty="0">
                <a:latin typeface="Calibri" panose="020F0502020204030204" pitchFamily="34" charset="0"/>
                <a:cs typeface="Calibri" panose="020F0502020204030204" pitchFamily="34" charset="0"/>
              </a:rPr>
              <a:t>negocio</a:t>
            </a:r>
            <a:r>
              <a:rPr sz="4000" spc="-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dirty="0">
                <a:latin typeface="Calibri" panose="020F0502020204030204" pitchFamily="34" charset="0"/>
                <a:cs typeface="Calibri" panose="020F0502020204030204" pitchFamily="34" charset="0"/>
              </a:rPr>
              <a:t>del</a:t>
            </a:r>
            <a:r>
              <a:rPr sz="4000" spc="-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spc="-45" dirty="0">
                <a:latin typeface="Calibri" panose="020F0502020204030204" pitchFamily="34" charset="0"/>
                <a:cs typeface="Calibri" panose="020F0502020204030204" pitchFamily="34" charset="0"/>
              </a:rPr>
              <a:t>dominio.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09200" y="7577314"/>
            <a:ext cx="3101975" cy="1224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9730" indent="-367030">
              <a:lnSpc>
                <a:spcPct val="100000"/>
              </a:lnSpc>
              <a:spcBef>
                <a:spcPts val="105"/>
              </a:spcBef>
              <a:buChar char="•"/>
              <a:tabLst>
                <a:tab pos="379730" algn="l"/>
              </a:tabLst>
            </a:pPr>
            <a:r>
              <a:rPr sz="3950" spc="-10" dirty="0">
                <a:latin typeface="Calibri"/>
                <a:cs typeface="Calibri"/>
              </a:rPr>
              <a:t>createUser</a:t>
            </a:r>
            <a:endParaRPr sz="3950" dirty="0">
              <a:latin typeface="Calibri"/>
              <a:cs typeface="Calibri"/>
            </a:endParaRPr>
          </a:p>
          <a:p>
            <a:pPr marL="380365" indent="-367030">
              <a:lnSpc>
                <a:spcPct val="100000"/>
              </a:lnSpc>
              <a:spcBef>
                <a:spcPts val="60"/>
              </a:spcBef>
              <a:buChar char="•"/>
              <a:tabLst>
                <a:tab pos="380365" algn="l"/>
              </a:tabLst>
            </a:pPr>
            <a:r>
              <a:rPr sz="3850" spc="-20" dirty="0">
                <a:latin typeface="Calibri"/>
                <a:cs typeface="Calibri"/>
              </a:rPr>
              <a:t>approveorder</a:t>
            </a:r>
            <a:endParaRPr sz="3850" dirty="0">
              <a:latin typeface="Calibri"/>
              <a:cs typeface="Calibri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9064C9F-92C6-ED47-FE3A-AEF3044F1887}"/>
              </a:ext>
            </a:extLst>
          </p:cNvPr>
          <p:cNvCxnSpPr/>
          <p:nvPr/>
        </p:nvCxnSpPr>
        <p:spPr>
          <a:xfrm>
            <a:off x="8204200" y="4267200"/>
            <a:ext cx="0" cy="43093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391400"/>
            <a:ext cx="1130300" cy="1041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100" y="6146800"/>
            <a:ext cx="800100" cy="939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5092700"/>
            <a:ext cx="825500" cy="68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6500" y="3695700"/>
            <a:ext cx="1003300" cy="990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2514600"/>
            <a:ext cx="1447800" cy="863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1043519"/>
          </a:xfrm>
          <a:prstGeom prst="rect">
            <a:avLst/>
          </a:prstGeom>
        </p:spPr>
        <p:txBody>
          <a:bodyPr vert="horz" wrap="square" lIns="0" tIns="187607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b="1" spc="-150" dirty="0">
                <a:solidFill>
                  <a:srgbClr val="242424"/>
                </a:solidFill>
              </a:rPr>
              <a:t>¿Cuándo</a:t>
            </a:r>
            <a:r>
              <a:rPr b="1" spc="-215" dirty="0">
                <a:solidFill>
                  <a:srgbClr val="242424"/>
                </a:solidFill>
              </a:rPr>
              <a:t> </a:t>
            </a:r>
            <a:r>
              <a:rPr b="1" dirty="0"/>
              <a:t>brilla</a:t>
            </a:r>
            <a:r>
              <a:rPr b="1" spc="-325" dirty="0"/>
              <a:t> </a:t>
            </a:r>
            <a:r>
              <a:rPr b="1" spc="-20" dirty="0"/>
              <a:t>realmente</a:t>
            </a:r>
            <a:r>
              <a:rPr b="1" spc="-120" dirty="0"/>
              <a:t> </a:t>
            </a:r>
            <a:r>
              <a:rPr b="1" spc="-310" dirty="0">
                <a:solidFill>
                  <a:srgbClr val="242424"/>
                </a:solidFill>
              </a:rPr>
              <a:t>GraphQL?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07485" y="2627841"/>
            <a:ext cx="11957050" cy="55149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z="3800" spc="-145" dirty="0">
                <a:latin typeface="Arial MT"/>
                <a:cs typeface="Arial MT"/>
              </a:rPr>
              <a:t>Múltiples</a:t>
            </a:r>
            <a:r>
              <a:rPr sz="3800" spc="-100" dirty="0">
                <a:latin typeface="Arial MT"/>
                <a:cs typeface="Arial MT"/>
              </a:rPr>
              <a:t> </a:t>
            </a:r>
            <a:r>
              <a:rPr sz="3800" spc="-140" dirty="0">
                <a:latin typeface="Arial MT"/>
                <a:cs typeface="Arial MT"/>
              </a:rPr>
              <a:t>clientes</a:t>
            </a:r>
            <a:r>
              <a:rPr sz="3800" spc="15" dirty="0">
                <a:latin typeface="Arial MT"/>
                <a:cs typeface="Arial MT"/>
              </a:rPr>
              <a:t> </a:t>
            </a:r>
            <a:r>
              <a:rPr sz="3800" spc="-215" dirty="0">
                <a:latin typeface="Arial MT"/>
                <a:cs typeface="Arial MT"/>
              </a:rPr>
              <a:t>(web,</a:t>
            </a:r>
            <a:r>
              <a:rPr sz="3800" spc="-60" dirty="0">
                <a:latin typeface="Arial MT"/>
                <a:cs typeface="Arial MT"/>
              </a:rPr>
              <a:t> </a:t>
            </a:r>
            <a:r>
              <a:rPr sz="3800" spc="-200" dirty="0">
                <a:latin typeface="Arial MT"/>
                <a:cs typeface="Arial MT"/>
              </a:rPr>
              <a:t>móvil, </a:t>
            </a:r>
            <a:r>
              <a:rPr sz="3800" spc="-30" dirty="0">
                <a:latin typeface="Arial MT"/>
                <a:cs typeface="Arial MT"/>
              </a:rPr>
              <a:t>IoT).</a:t>
            </a:r>
            <a:endParaRPr sz="3800" dirty="0">
              <a:latin typeface="Arial MT"/>
              <a:cs typeface="Arial MT"/>
            </a:endParaRPr>
          </a:p>
          <a:p>
            <a:pPr marL="12700" marR="2781300" indent="16510">
              <a:lnSpc>
                <a:spcPts val="9650"/>
              </a:lnSpc>
              <a:spcBef>
                <a:spcPts val="1140"/>
              </a:spcBef>
            </a:pPr>
            <a:r>
              <a:rPr sz="3800" spc="-160" dirty="0">
                <a:latin typeface="Arial MT"/>
                <a:cs typeface="Arial MT"/>
              </a:rPr>
              <a:t>Orquestación</a:t>
            </a:r>
            <a:r>
              <a:rPr sz="3800" spc="-50" dirty="0">
                <a:latin typeface="Arial MT"/>
                <a:cs typeface="Arial MT"/>
              </a:rPr>
              <a:t> </a:t>
            </a:r>
            <a:r>
              <a:rPr sz="3800" spc="-90" dirty="0">
                <a:latin typeface="Arial MT"/>
                <a:cs typeface="Arial MT"/>
              </a:rPr>
              <a:t>de</a:t>
            </a:r>
            <a:r>
              <a:rPr sz="3800" spc="-180" dirty="0">
                <a:latin typeface="Arial MT"/>
                <a:cs typeface="Arial MT"/>
              </a:rPr>
              <a:t> </a:t>
            </a:r>
            <a:r>
              <a:rPr sz="3800" spc="-130" dirty="0">
                <a:latin typeface="Arial MT"/>
                <a:cs typeface="Arial MT"/>
              </a:rPr>
              <a:t>datos</a:t>
            </a:r>
            <a:r>
              <a:rPr sz="3800" spc="-140" dirty="0">
                <a:latin typeface="Arial MT"/>
                <a:cs typeface="Arial MT"/>
              </a:rPr>
              <a:t> desde</a:t>
            </a:r>
            <a:r>
              <a:rPr sz="3800" spc="-85" dirty="0">
                <a:latin typeface="Arial MT"/>
                <a:cs typeface="Arial MT"/>
              </a:rPr>
              <a:t> </a:t>
            </a:r>
            <a:r>
              <a:rPr sz="3800" spc="-75" dirty="0">
                <a:latin typeface="Arial MT"/>
                <a:cs typeface="Arial MT"/>
              </a:rPr>
              <a:t>microservicios. </a:t>
            </a:r>
            <a:r>
              <a:rPr sz="3800" spc="-135" dirty="0">
                <a:latin typeface="Arial MT"/>
                <a:cs typeface="Arial MT"/>
              </a:rPr>
              <a:t>Frontend </a:t>
            </a:r>
            <a:r>
              <a:rPr sz="3800" spc="-175" dirty="0">
                <a:latin typeface="Arial MT"/>
                <a:cs typeface="Arial MT"/>
              </a:rPr>
              <a:t>que</a:t>
            </a:r>
            <a:r>
              <a:rPr sz="3800" spc="-90" dirty="0">
                <a:latin typeface="Arial MT"/>
                <a:cs typeface="Arial MT"/>
              </a:rPr>
              <a:t> </a:t>
            </a:r>
            <a:r>
              <a:rPr sz="3800" spc="-145" dirty="0">
                <a:latin typeface="Arial MT"/>
                <a:cs typeface="Arial MT"/>
              </a:rPr>
              <a:t>evoluciona</a:t>
            </a:r>
            <a:r>
              <a:rPr sz="3800" spc="-5" dirty="0">
                <a:latin typeface="Arial MT"/>
                <a:cs typeface="Arial MT"/>
              </a:rPr>
              <a:t> </a:t>
            </a:r>
            <a:r>
              <a:rPr sz="3800" spc="-70" dirty="0">
                <a:latin typeface="Arial MT"/>
                <a:cs typeface="Arial MT"/>
              </a:rPr>
              <a:t>rápidamente.</a:t>
            </a:r>
            <a:endParaRPr sz="3800" dirty="0">
              <a:latin typeface="Arial MT"/>
              <a:cs typeface="Arial MT"/>
            </a:endParaRPr>
          </a:p>
          <a:p>
            <a:pPr marL="27305">
              <a:lnSpc>
                <a:spcPct val="100000"/>
              </a:lnSpc>
              <a:spcBef>
                <a:spcPts val="3470"/>
              </a:spcBef>
            </a:pPr>
            <a:r>
              <a:rPr sz="3800" spc="-204" dirty="0">
                <a:latin typeface="Arial MT"/>
                <a:cs typeface="Arial MT"/>
              </a:rPr>
              <a:t>Construcción</a:t>
            </a:r>
            <a:r>
              <a:rPr sz="3800" spc="15" dirty="0">
                <a:latin typeface="Arial MT"/>
                <a:cs typeface="Arial MT"/>
              </a:rPr>
              <a:t> </a:t>
            </a:r>
            <a:r>
              <a:rPr sz="3800" spc="-254" dirty="0">
                <a:latin typeface="Arial MT"/>
                <a:cs typeface="Arial MT"/>
              </a:rPr>
              <a:t>de</a:t>
            </a:r>
            <a:r>
              <a:rPr sz="3800" spc="-100" dirty="0">
                <a:latin typeface="Arial MT"/>
                <a:cs typeface="Arial MT"/>
              </a:rPr>
              <a:t> </a:t>
            </a:r>
            <a:r>
              <a:rPr lang="es-ES" sz="3800" spc="-265" dirty="0">
                <a:latin typeface="Arial MT"/>
                <a:cs typeface="Arial MT"/>
              </a:rPr>
              <a:t>capas</a:t>
            </a:r>
            <a:r>
              <a:rPr sz="3800" spc="70" dirty="0">
                <a:latin typeface="Arial MT"/>
                <a:cs typeface="Arial MT"/>
              </a:rPr>
              <a:t> </a:t>
            </a:r>
            <a:r>
              <a:rPr sz="3800" spc="-285" dirty="0">
                <a:latin typeface="Arial MT"/>
                <a:cs typeface="Arial MT"/>
              </a:rPr>
              <a:t>para</a:t>
            </a:r>
            <a:r>
              <a:rPr sz="3800" spc="35" dirty="0">
                <a:latin typeface="Arial MT"/>
                <a:cs typeface="Arial MT"/>
              </a:rPr>
              <a:t> </a:t>
            </a:r>
            <a:r>
              <a:rPr sz="3800" spc="-280" dirty="0">
                <a:latin typeface="Arial MT"/>
                <a:cs typeface="Arial MT"/>
              </a:rPr>
              <a:t>sistemas</a:t>
            </a:r>
            <a:r>
              <a:rPr sz="3800" spc="20" dirty="0">
                <a:latin typeface="Arial MT"/>
                <a:cs typeface="Arial MT"/>
              </a:rPr>
              <a:t> </a:t>
            </a:r>
            <a:r>
              <a:rPr sz="3800" spc="-210" dirty="0">
                <a:latin typeface="Arial MT"/>
                <a:cs typeface="Arial MT"/>
              </a:rPr>
              <a:t>complejos</a:t>
            </a:r>
            <a:r>
              <a:rPr sz="3800" spc="175" dirty="0">
                <a:latin typeface="Arial MT"/>
                <a:cs typeface="Arial MT"/>
              </a:rPr>
              <a:t> </a:t>
            </a:r>
            <a:r>
              <a:rPr sz="3800" spc="-375" dirty="0">
                <a:latin typeface="Arial MT"/>
                <a:cs typeface="Arial MT"/>
              </a:rPr>
              <a:t>(BFFs).</a:t>
            </a:r>
            <a:endParaRPr sz="3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800" dirty="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</a:pPr>
            <a:r>
              <a:rPr sz="3800" spc="-120" dirty="0">
                <a:latin typeface="Arial MT"/>
                <a:cs typeface="Arial MT"/>
              </a:rPr>
              <a:t>Necesidad</a:t>
            </a:r>
            <a:r>
              <a:rPr sz="3800" spc="-145" dirty="0">
                <a:latin typeface="Arial MT"/>
                <a:cs typeface="Arial MT"/>
              </a:rPr>
              <a:t> </a:t>
            </a:r>
            <a:r>
              <a:rPr sz="3800" spc="-135" dirty="0">
                <a:latin typeface="Arial MT"/>
                <a:cs typeface="Arial MT"/>
              </a:rPr>
              <a:t>de</a:t>
            </a:r>
            <a:r>
              <a:rPr sz="3800" spc="-155" dirty="0">
                <a:latin typeface="Arial MT"/>
                <a:cs typeface="Arial MT"/>
              </a:rPr>
              <a:t> </a:t>
            </a:r>
            <a:r>
              <a:rPr sz="3800" spc="-80" dirty="0">
                <a:latin typeface="Arial MT"/>
                <a:cs typeface="Arial MT"/>
              </a:rPr>
              <a:t>flexibilidad</a:t>
            </a:r>
            <a:r>
              <a:rPr sz="3800" spc="-105" dirty="0">
                <a:latin typeface="Arial MT"/>
                <a:cs typeface="Arial MT"/>
              </a:rPr>
              <a:t> </a:t>
            </a:r>
            <a:r>
              <a:rPr sz="3800" spc="-175" dirty="0">
                <a:latin typeface="Arial MT"/>
                <a:cs typeface="Arial MT"/>
              </a:rPr>
              <a:t>máxima</a:t>
            </a:r>
            <a:r>
              <a:rPr sz="3800" spc="15" dirty="0">
                <a:latin typeface="Arial MT"/>
                <a:cs typeface="Arial MT"/>
              </a:rPr>
              <a:t> </a:t>
            </a:r>
            <a:r>
              <a:rPr sz="3800" spc="-180" dirty="0">
                <a:latin typeface="Arial MT"/>
                <a:cs typeface="Arial MT"/>
              </a:rPr>
              <a:t>en</a:t>
            </a:r>
            <a:r>
              <a:rPr sz="3800" spc="-170" dirty="0">
                <a:latin typeface="Arial MT"/>
                <a:cs typeface="Arial MT"/>
              </a:rPr>
              <a:t> </a:t>
            </a:r>
            <a:r>
              <a:rPr sz="3800" spc="-140" dirty="0">
                <a:latin typeface="Arial MT"/>
                <a:cs typeface="Arial MT"/>
              </a:rPr>
              <a:t>las</a:t>
            </a:r>
            <a:r>
              <a:rPr sz="3800" spc="-125" dirty="0">
                <a:latin typeface="Arial MT"/>
                <a:cs typeface="Arial MT"/>
              </a:rPr>
              <a:t> </a:t>
            </a:r>
            <a:r>
              <a:rPr sz="3800" spc="-35" dirty="0">
                <a:latin typeface="Arial MT"/>
                <a:cs typeface="Arial MT"/>
              </a:rPr>
              <a:t>respuestas.</a:t>
            </a:r>
            <a:endParaRPr sz="3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900" y="6388100"/>
            <a:ext cx="914400" cy="876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0" y="5016500"/>
            <a:ext cx="749300" cy="952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800" y="3759200"/>
            <a:ext cx="990600" cy="64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985" y="5969000"/>
            <a:ext cx="977900" cy="9779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436100" y="7683500"/>
            <a:ext cx="1016000" cy="939800"/>
            <a:chOff x="9436100" y="7683500"/>
            <a:chExt cx="1016000" cy="9398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29800" y="7683500"/>
              <a:ext cx="228600" cy="2921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6100" y="8013700"/>
              <a:ext cx="1016000" cy="6096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78139" y="896603"/>
            <a:ext cx="8857961" cy="26536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685" marR="5080" indent="-7620">
              <a:lnSpc>
                <a:spcPct val="92500"/>
              </a:lnSpc>
              <a:spcBef>
                <a:spcPts val="605"/>
              </a:spcBef>
            </a:pPr>
            <a:r>
              <a:rPr sz="6000" b="1" spc="-20" dirty="0">
                <a:solidFill>
                  <a:srgbClr val="0E0E0E"/>
                </a:solidFill>
              </a:rPr>
              <a:t>No</a:t>
            </a:r>
            <a:r>
              <a:rPr sz="6000" b="1" spc="-380" dirty="0">
                <a:solidFill>
                  <a:srgbClr val="0E0E0E"/>
                </a:solidFill>
              </a:rPr>
              <a:t> </a:t>
            </a:r>
            <a:r>
              <a:rPr sz="6000" b="1" spc="90" dirty="0">
                <a:solidFill>
                  <a:srgbClr val="0C0C0C"/>
                </a:solidFill>
              </a:rPr>
              <a:t>es</a:t>
            </a:r>
            <a:r>
              <a:rPr sz="6000" b="1" spc="-395" dirty="0">
                <a:solidFill>
                  <a:srgbClr val="0C0C0C"/>
                </a:solidFill>
              </a:rPr>
              <a:t> </a:t>
            </a:r>
            <a:r>
              <a:rPr sz="6000" b="1" dirty="0">
                <a:solidFill>
                  <a:srgbClr val="0C0C0C"/>
                </a:solidFill>
              </a:rPr>
              <a:t>una</a:t>
            </a:r>
            <a:r>
              <a:rPr sz="6000" b="1" spc="-250" dirty="0">
                <a:solidFill>
                  <a:srgbClr val="0C0C0C"/>
                </a:solidFill>
              </a:rPr>
              <a:t> </a:t>
            </a:r>
            <a:r>
              <a:rPr sz="6000" b="1" dirty="0">
                <a:solidFill>
                  <a:srgbClr val="0C0C0C"/>
                </a:solidFill>
              </a:rPr>
              <a:t>bala</a:t>
            </a:r>
            <a:r>
              <a:rPr sz="6000" b="1" spc="-140" dirty="0">
                <a:solidFill>
                  <a:srgbClr val="0C0C0C"/>
                </a:solidFill>
              </a:rPr>
              <a:t> </a:t>
            </a:r>
            <a:r>
              <a:rPr sz="6000" b="1" spc="30" dirty="0">
                <a:solidFill>
                  <a:srgbClr val="0C0C0C"/>
                </a:solidFill>
              </a:rPr>
              <a:t>de </a:t>
            </a:r>
            <a:r>
              <a:rPr sz="6000" b="1" spc="110" dirty="0">
                <a:solidFill>
                  <a:srgbClr val="0C0C0C"/>
                </a:solidFill>
              </a:rPr>
              <a:t>plata:</a:t>
            </a:r>
            <a:r>
              <a:rPr sz="6000" b="1" spc="-325" dirty="0">
                <a:solidFill>
                  <a:srgbClr val="0C0C0C"/>
                </a:solidFill>
              </a:rPr>
              <a:t> </a:t>
            </a:r>
            <a:r>
              <a:rPr sz="6000" b="1" spc="-10" dirty="0" err="1">
                <a:solidFill>
                  <a:srgbClr val="0C0C0C"/>
                </a:solidFill>
              </a:rPr>
              <a:t>Cuándo</a:t>
            </a:r>
            <a:r>
              <a:rPr lang="es-ES" sz="6000" b="1" spc="-10" dirty="0">
                <a:solidFill>
                  <a:srgbClr val="0C0C0C"/>
                </a:solidFill>
              </a:rPr>
              <a:t> </a:t>
            </a:r>
            <a:r>
              <a:rPr sz="6000" b="1" dirty="0" err="1">
                <a:solidFill>
                  <a:srgbClr val="0C0C0C"/>
                </a:solidFill>
              </a:rPr>
              <a:t>considerar</a:t>
            </a:r>
            <a:r>
              <a:rPr sz="6000" b="1" spc="-225" dirty="0">
                <a:solidFill>
                  <a:srgbClr val="0C0C0C"/>
                </a:solidFill>
              </a:rPr>
              <a:t> </a:t>
            </a:r>
            <a:r>
              <a:rPr sz="6000" b="1" spc="-10" dirty="0" err="1">
                <a:solidFill>
                  <a:srgbClr val="0C0C0C"/>
                </a:solidFill>
              </a:rPr>
              <a:t>alternativas</a:t>
            </a:r>
            <a:endParaRPr sz="6000" b="1" dirty="0"/>
          </a:p>
        </p:txBody>
      </p:sp>
      <p:sp>
        <p:nvSpPr>
          <p:cNvPr id="12" name="object 12"/>
          <p:cNvSpPr txBox="1"/>
          <p:nvPr/>
        </p:nvSpPr>
        <p:spPr>
          <a:xfrm>
            <a:off x="2002450" y="5969000"/>
            <a:ext cx="5272273" cy="9579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4604" marR="5080" indent="-2540">
              <a:lnSpc>
                <a:spcPts val="3250"/>
              </a:lnSpc>
              <a:spcBef>
                <a:spcPts val="555"/>
              </a:spcBef>
            </a:pPr>
            <a:r>
              <a:rPr lang="es-ES" sz="3050" spc="-130" dirty="0" err="1">
                <a:latin typeface="Arial MT"/>
              </a:rPr>
              <a:t>APIs</a:t>
            </a:r>
            <a:r>
              <a:rPr lang="es-ES" sz="3050" spc="-130" dirty="0">
                <a:latin typeface="Arial MT"/>
              </a:rPr>
              <a:t> de CRUD muy simples </a:t>
            </a:r>
            <a:r>
              <a:rPr sz="3050" spc="-130" dirty="0">
                <a:latin typeface="Arial MT"/>
              </a:rPr>
              <a:t>y directas.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853767" y="3631494"/>
            <a:ext cx="5540375" cy="9042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4604" marR="5080" indent="-2540">
              <a:lnSpc>
                <a:spcPts val="3250"/>
              </a:lnSpc>
              <a:spcBef>
                <a:spcPts val="555"/>
              </a:spcBef>
            </a:pPr>
            <a:r>
              <a:rPr sz="3050" spc="-130" dirty="0">
                <a:latin typeface="Arial MT"/>
                <a:cs typeface="Calibri" panose="020F0502020204030204" pitchFamily="34" charset="0"/>
              </a:rPr>
              <a:t>Servicios</a:t>
            </a:r>
            <a:r>
              <a:rPr sz="3050" spc="-75" dirty="0">
                <a:latin typeface="Arial MT"/>
                <a:cs typeface="Calibri" panose="020F0502020204030204" pitchFamily="34" charset="0"/>
              </a:rPr>
              <a:t> </a:t>
            </a:r>
            <a:r>
              <a:rPr sz="3050" spc="-95" dirty="0">
                <a:latin typeface="Arial MT"/>
                <a:cs typeface="Calibri" panose="020F0502020204030204" pitchFamily="34" charset="0"/>
              </a:rPr>
              <a:t>internos</a:t>
            </a:r>
            <a:r>
              <a:rPr sz="3050" spc="-40" dirty="0">
                <a:latin typeface="Arial MT"/>
                <a:cs typeface="Calibri" panose="020F0502020204030204" pitchFamily="34" charset="0"/>
              </a:rPr>
              <a:t> </a:t>
            </a:r>
            <a:r>
              <a:rPr sz="3050" spc="-204" dirty="0">
                <a:latin typeface="Arial MT"/>
                <a:cs typeface="Calibri" panose="020F0502020204030204" pitchFamily="34" charset="0"/>
              </a:rPr>
              <a:t>muy</a:t>
            </a:r>
            <a:r>
              <a:rPr sz="3050" spc="-5" dirty="0">
                <a:latin typeface="Arial MT"/>
                <a:cs typeface="Calibri" panose="020F0502020204030204" pitchFamily="34" charset="0"/>
              </a:rPr>
              <a:t> </a:t>
            </a:r>
            <a:r>
              <a:rPr sz="3050" spc="-170" dirty="0">
                <a:latin typeface="Arial MT"/>
                <a:cs typeface="Calibri" panose="020F0502020204030204" pitchFamily="34" charset="0"/>
              </a:rPr>
              <a:t>pequeños</a:t>
            </a:r>
            <a:r>
              <a:rPr sz="3050" spc="20" dirty="0">
                <a:latin typeface="Arial MT"/>
                <a:cs typeface="Calibri" panose="020F0502020204030204" pitchFamily="34" charset="0"/>
              </a:rPr>
              <a:t> </a:t>
            </a:r>
            <a:r>
              <a:rPr sz="3050" spc="-50" dirty="0">
                <a:latin typeface="Arial MT"/>
                <a:cs typeface="Calibri" panose="020F0502020204030204" pitchFamily="34" charset="0"/>
              </a:rPr>
              <a:t>y </a:t>
            </a:r>
            <a:r>
              <a:rPr sz="3050" spc="-45" dirty="0">
                <a:latin typeface="Arial MT"/>
                <a:cs typeface="Calibri" panose="020F0502020204030204" pitchFamily="34" charset="0"/>
              </a:rPr>
              <a:t>controlados.</a:t>
            </a:r>
            <a:endParaRPr sz="3050" dirty="0">
              <a:latin typeface="Arial MT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51431" y="5024613"/>
            <a:ext cx="5443220" cy="35579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75">
              <a:lnSpc>
                <a:spcPts val="3295"/>
              </a:lnSpc>
              <a:spcBef>
                <a:spcPts val="135"/>
              </a:spcBef>
            </a:pPr>
            <a:r>
              <a:rPr sz="2950" spc="-110" dirty="0">
                <a:latin typeface="Arial MT"/>
                <a:cs typeface="Calibri" panose="020F0502020204030204" pitchFamily="34" charset="0"/>
              </a:rPr>
              <a:t>Descarga</a:t>
            </a:r>
            <a:r>
              <a:rPr sz="2950" spc="-100" dirty="0">
                <a:latin typeface="Arial MT"/>
                <a:cs typeface="Calibri" panose="020F0502020204030204" pitchFamily="34" charset="0"/>
              </a:rPr>
              <a:t> </a:t>
            </a:r>
            <a:r>
              <a:rPr sz="2950" spc="-20" dirty="0">
                <a:latin typeface="Arial MT"/>
                <a:cs typeface="Calibri" panose="020F0502020204030204" pitchFamily="34" charset="0"/>
              </a:rPr>
              <a:t>de</a:t>
            </a:r>
            <a:r>
              <a:rPr sz="2950" spc="-185" dirty="0">
                <a:latin typeface="Arial MT"/>
                <a:cs typeface="Calibri" panose="020F0502020204030204" pitchFamily="34" charset="0"/>
              </a:rPr>
              <a:t> </a:t>
            </a:r>
            <a:r>
              <a:rPr sz="2950" spc="-60" dirty="0">
                <a:latin typeface="Arial MT"/>
                <a:cs typeface="Calibri" panose="020F0502020204030204" pitchFamily="34" charset="0"/>
              </a:rPr>
              <a:t>archivos</a:t>
            </a:r>
            <a:r>
              <a:rPr sz="2950" spc="-65" dirty="0">
                <a:latin typeface="Arial MT"/>
                <a:cs typeface="Calibri" panose="020F0502020204030204" pitchFamily="34" charset="0"/>
              </a:rPr>
              <a:t> </a:t>
            </a:r>
            <a:r>
              <a:rPr sz="2950" spc="-90" dirty="0">
                <a:latin typeface="Arial MT"/>
                <a:cs typeface="Calibri" panose="020F0502020204030204" pitchFamily="34" charset="0"/>
              </a:rPr>
              <a:t>grandes</a:t>
            </a:r>
            <a:r>
              <a:rPr sz="2950" spc="-114" dirty="0">
                <a:latin typeface="Arial MT"/>
                <a:cs typeface="Calibri" panose="020F0502020204030204" pitchFamily="34" charset="0"/>
              </a:rPr>
              <a:t> </a:t>
            </a:r>
            <a:r>
              <a:rPr sz="2950" spc="-50" dirty="0">
                <a:latin typeface="Arial MT"/>
                <a:cs typeface="Calibri" panose="020F0502020204030204" pitchFamily="34" charset="0"/>
              </a:rPr>
              <a:t>o</a:t>
            </a:r>
            <a:endParaRPr sz="2950" dirty="0">
              <a:latin typeface="Arial MT"/>
              <a:cs typeface="Calibri" panose="020F0502020204030204" pitchFamily="34" charset="0"/>
            </a:endParaRPr>
          </a:p>
          <a:p>
            <a:pPr marL="19685">
              <a:lnSpc>
                <a:spcPts val="3475"/>
              </a:lnSpc>
            </a:pPr>
            <a:r>
              <a:rPr sz="3100" spc="-80" dirty="0">
                <a:latin typeface="Arial MT"/>
                <a:cs typeface="Calibri" panose="020F0502020204030204" pitchFamily="34" charset="0"/>
              </a:rPr>
              <a:t>streaming.</a:t>
            </a:r>
            <a:endParaRPr sz="3100" dirty="0">
              <a:latin typeface="Arial MT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3100" dirty="0">
              <a:latin typeface="Arial MT"/>
              <a:cs typeface="Calibri" panose="020F0502020204030204" pitchFamily="34" charset="0"/>
            </a:endParaRPr>
          </a:p>
          <a:p>
            <a:pPr marL="12700" marR="691515" indent="-635">
              <a:lnSpc>
                <a:spcPts val="3200"/>
              </a:lnSpc>
            </a:pPr>
            <a:r>
              <a:rPr sz="3100" spc="-265" dirty="0">
                <a:latin typeface="Arial MT"/>
                <a:cs typeface="Calibri" panose="020F0502020204030204" pitchFamily="34" charset="0"/>
              </a:rPr>
              <a:t>Casos</a:t>
            </a:r>
            <a:r>
              <a:rPr sz="3100" spc="4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65" dirty="0">
                <a:latin typeface="Arial MT"/>
                <a:cs typeface="Calibri" panose="020F0502020204030204" pitchFamily="34" charset="0"/>
              </a:rPr>
              <a:t>donde</a:t>
            </a:r>
            <a:r>
              <a:rPr sz="3100" spc="-2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204" dirty="0">
                <a:latin typeface="Arial MT"/>
                <a:cs typeface="Calibri" panose="020F0502020204030204" pitchFamily="34" charset="0"/>
              </a:rPr>
              <a:t>el</a:t>
            </a:r>
            <a:r>
              <a:rPr sz="3100" spc="-114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65" dirty="0">
                <a:latin typeface="Arial MT"/>
                <a:cs typeface="Calibri" panose="020F0502020204030204" pitchFamily="34" charset="0"/>
              </a:rPr>
              <a:t>caching</a:t>
            </a:r>
            <a:r>
              <a:rPr sz="3100" spc="-1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350" dirty="0">
                <a:latin typeface="Arial MT"/>
                <a:cs typeface="Calibri" panose="020F0502020204030204" pitchFamily="34" charset="0"/>
              </a:rPr>
              <a:t>HTTP </a:t>
            </a:r>
            <a:r>
              <a:rPr sz="3100" spc="-125" dirty="0">
                <a:latin typeface="Arial MT"/>
                <a:cs typeface="Calibri" panose="020F0502020204030204" pitchFamily="34" charset="0"/>
              </a:rPr>
              <a:t>tradicional</a:t>
            </a:r>
            <a:r>
              <a:rPr sz="3100" spc="-30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229" dirty="0">
                <a:latin typeface="Arial MT"/>
                <a:cs typeface="Calibri" panose="020F0502020204030204" pitchFamily="34" charset="0"/>
              </a:rPr>
              <a:t>es</a:t>
            </a:r>
            <a:r>
              <a:rPr sz="3100" spc="-1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80" dirty="0">
                <a:latin typeface="Arial MT"/>
                <a:cs typeface="Calibri" panose="020F0502020204030204" pitchFamily="34" charset="0"/>
              </a:rPr>
              <a:t>fundamental.</a:t>
            </a:r>
            <a:endParaRPr sz="3100" dirty="0">
              <a:latin typeface="Arial MT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3100" dirty="0">
              <a:latin typeface="Arial MT"/>
              <a:cs typeface="Calibri" panose="020F0502020204030204" pitchFamily="34" charset="0"/>
            </a:endParaRPr>
          </a:p>
          <a:p>
            <a:pPr marL="18415" marR="5080" indent="-5715">
              <a:lnSpc>
                <a:spcPts val="3150"/>
              </a:lnSpc>
            </a:pPr>
            <a:r>
              <a:rPr sz="3100" spc="-215" dirty="0">
                <a:latin typeface="Arial MT"/>
                <a:cs typeface="Calibri" panose="020F0502020204030204" pitchFamily="34" charset="0"/>
              </a:rPr>
              <a:t>Equipos</a:t>
            </a:r>
            <a:r>
              <a:rPr sz="3100" spc="-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70" dirty="0">
                <a:latin typeface="Arial MT"/>
                <a:cs typeface="Calibri" panose="020F0502020204030204" pitchFamily="34" charset="0"/>
              </a:rPr>
              <a:t>sin</a:t>
            </a:r>
            <a:r>
              <a:rPr sz="3100" spc="-9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75" dirty="0">
                <a:latin typeface="Arial MT"/>
                <a:cs typeface="Calibri" panose="020F0502020204030204" pitchFamily="34" charset="0"/>
              </a:rPr>
              <a:t>experiencia</a:t>
            </a:r>
            <a:r>
              <a:rPr sz="3100" spc="10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235" dirty="0">
                <a:latin typeface="Arial MT"/>
                <a:cs typeface="Calibri" panose="020F0502020204030204" pitchFamily="34" charset="0"/>
              </a:rPr>
              <a:t>en</a:t>
            </a:r>
            <a:r>
              <a:rPr sz="3100" spc="-8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25" dirty="0">
                <a:latin typeface="Arial MT"/>
                <a:cs typeface="Calibri" panose="020F0502020204030204" pitchFamily="34" charset="0"/>
              </a:rPr>
              <a:t>el </a:t>
            </a:r>
            <a:r>
              <a:rPr sz="3100" spc="-190" dirty="0">
                <a:latin typeface="Arial MT"/>
                <a:cs typeface="Calibri" panose="020F0502020204030204" pitchFamily="34" charset="0"/>
              </a:rPr>
              <a:t>paradigma</a:t>
            </a:r>
            <a:r>
              <a:rPr sz="3100" spc="6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225" dirty="0">
                <a:latin typeface="Arial MT"/>
                <a:cs typeface="Calibri" panose="020F0502020204030204" pitchFamily="34" charset="0"/>
              </a:rPr>
              <a:t>y</a:t>
            </a:r>
            <a:r>
              <a:rPr sz="3100" spc="-80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95" dirty="0">
                <a:latin typeface="Arial MT"/>
                <a:cs typeface="Calibri" panose="020F0502020204030204" pitchFamily="34" charset="0"/>
              </a:rPr>
              <a:t>con</a:t>
            </a:r>
            <a:r>
              <a:rPr sz="3100" spc="-130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80" dirty="0">
                <a:latin typeface="Arial MT"/>
                <a:cs typeface="Calibri" panose="020F0502020204030204" pitchFamily="34" charset="0"/>
              </a:rPr>
              <a:t>plazos</a:t>
            </a:r>
            <a:r>
              <a:rPr sz="3100" spc="-35" dirty="0">
                <a:latin typeface="Arial MT"/>
                <a:cs typeface="Calibri" panose="020F0502020204030204" pitchFamily="34" charset="0"/>
              </a:rPr>
              <a:t> </a:t>
            </a:r>
            <a:r>
              <a:rPr sz="3100" spc="-150" dirty="0">
                <a:latin typeface="Arial MT"/>
                <a:cs typeface="Calibri" panose="020F0502020204030204" pitchFamily="34" charset="0"/>
              </a:rPr>
              <a:t>ajustados.</a:t>
            </a:r>
            <a:endParaRPr sz="3100" dirty="0">
              <a:latin typeface="Arial MT"/>
              <a:cs typeface="Calibri" panose="020F0502020204030204" pitchFamily="34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1494148F-29D8-0A95-A7D9-013850415A0E}"/>
              </a:ext>
            </a:extLst>
          </p:cNvPr>
          <p:cNvSpPr txBox="1"/>
          <p:nvPr/>
        </p:nvSpPr>
        <p:spPr>
          <a:xfrm>
            <a:off x="1880145" y="7241765"/>
            <a:ext cx="5540375" cy="134075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4604" marR="5080" indent="-2540">
              <a:lnSpc>
                <a:spcPts val="3250"/>
              </a:lnSpc>
              <a:spcBef>
                <a:spcPts val="555"/>
              </a:spcBef>
            </a:pPr>
            <a:r>
              <a:rPr lang="es-ES" sz="2950" spc="-110" dirty="0">
                <a:latin typeface="Arial MT"/>
                <a:cs typeface="Calibri" panose="020F0502020204030204" pitchFamily="34" charset="0"/>
              </a:rPr>
              <a:t>Si se usa CQRS hay un desfase temporal durante el cual la consistencia no se puede garantizar</a:t>
            </a:r>
            <a:endParaRPr sz="2950" spc="-110" dirty="0">
              <a:latin typeface="Arial MT"/>
              <a:cs typeface="Calibri" panose="020F0502020204030204" pitchFamily="34" charset="0"/>
            </a:endParaRPr>
          </a:p>
        </p:txBody>
      </p:sp>
      <p:pic>
        <p:nvPicPr>
          <p:cNvPr id="17" name="Gráfico 16" descr="Reloj con relleno sólido">
            <a:extLst>
              <a:ext uri="{FF2B5EF4-FFF2-40B4-BE49-F238E27FC236}">
                <a16:creationId xmlns:a16="http://schemas.microsoft.com/office/drawing/2014/main" id="{1408B66F-1536-B352-1761-C608A83AD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484" y="7454941"/>
            <a:ext cx="1089096" cy="1089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65BFB4-BA58-CA15-554F-A58CAFDA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11B00C0F-E89D-5C6B-8938-4B599523E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6609" y="561622"/>
            <a:ext cx="16081980" cy="1043519"/>
          </a:xfrm>
          <a:prstGeom prst="rect">
            <a:avLst/>
          </a:prstGeom>
        </p:spPr>
        <p:txBody>
          <a:bodyPr vert="horz" wrap="square" lIns="0" tIns="187607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lang="es-ES" b="1" dirty="0"/>
              <a:t>Mito de Rendimiento: "</a:t>
            </a:r>
            <a:r>
              <a:rPr lang="es-ES" b="1" dirty="0" err="1"/>
              <a:t>GraphQL</a:t>
            </a:r>
            <a:r>
              <a:rPr lang="es-ES" b="1" dirty="0"/>
              <a:t> es lento"</a:t>
            </a:r>
            <a:endParaRPr b="1" spc="-310" dirty="0">
              <a:solidFill>
                <a:srgbClr val="242424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A19EBC-1B76-800B-EE7B-9CC00320E8F3}"/>
              </a:ext>
            </a:extLst>
          </p:cNvPr>
          <p:cNvSpPr txBox="1"/>
          <p:nvPr/>
        </p:nvSpPr>
        <p:spPr>
          <a:xfrm>
            <a:off x="990600" y="1713468"/>
            <a:ext cx="9571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Realidad:</a:t>
            </a:r>
            <a:r>
              <a:rPr lang="es-ES" sz="2400" dirty="0"/>
              <a:t> </a:t>
            </a:r>
            <a:r>
              <a:rPr lang="es-ES" sz="2400" dirty="0" err="1"/>
              <a:t>GraphQL</a:t>
            </a:r>
            <a:r>
              <a:rPr lang="es-ES" sz="2400" dirty="0"/>
              <a:t> es rápido, pero </a:t>
            </a:r>
            <a:r>
              <a:rPr lang="es-ES" sz="2400" b="1" dirty="0"/>
              <a:t>no perdona errores de diseño.</a:t>
            </a:r>
            <a:endParaRPr lang="es-ES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E9351B-FD0C-3F2A-31C2-579BC6544AB3}"/>
              </a:ext>
            </a:extLst>
          </p:cNvPr>
          <p:cNvSpPr txBox="1"/>
          <p:nvPr/>
        </p:nvSpPr>
        <p:spPr>
          <a:xfrm>
            <a:off x="990600" y="2438400"/>
            <a:ext cx="16484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500" b="1" dirty="0"/>
              <a:t>El porqué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500" dirty="0"/>
              <a:t> REST oculta ineficiencias: Los problemas quedan "escondidos" tras múltiples </a:t>
            </a:r>
            <a:r>
              <a:rPr lang="es-ES" sz="3500" dirty="0" err="1"/>
              <a:t>endpoints</a:t>
            </a:r>
            <a:r>
              <a:rPr lang="es-ES" sz="3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500" dirty="0"/>
              <a:t> </a:t>
            </a:r>
            <a:r>
              <a:rPr lang="es-ES" sz="3500" dirty="0" err="1"/>
              <a:t>GraphQL</a:t>
            </a:r>
            <a:r>
              <a:rPr lang="es-ES" sz="3500" dirty="0"/>
              <a:t> las expone al instante: La flexibilidad de las consultas revela inmediatamente cualquier cuello de botella en el </a:t>
            </a:r>
            <a:r>
              <a:rPr lang="es-ES" sz="3500" dirty="0" err="1"/>
              <a:t>backend</a:t>
            </a:r>
            <a:r>
              <a:rPr lang="es-ES" sz="3500" dirty="0"/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58D2D2-4D99-C9EE-FB54-D24BAE68DA09}"/>
              </a:ext>
            </a:extLst>
          </p:cNvPr>
          <p:cNvSpPr txBox="1"/>
          <p:nvPr/>
        </p:nvSpPr>
        <p:spPr>
          <a:xfrm>
            <a:off x="990601" y="5487045"/>
            <a:ext cx="16484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Causas comunes de lentitud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 Consultas N+1: Ejecutar una consulta a la base de datos por cada elemento de una lista.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 </a:t>
            </a:r>
            <a:r>
              <a:rPr lang="es-ES" sz="3600" dirty="0" err="1"/>
              <a:t>Resolvers</a:t>
            </a:r>
            <a:r>
              <a:rPr lang="es-ES" sz="3600" dirty="0"/>
              <a:t> "ruidosos" (</a:t>
            </a:r>
            <a:r>
              <a:rPr lang="es-ES" sz="3600" dirty="0" err="1"/>
              <a:t>Chatty</a:t>
            </a:r>
            <a:r>
              <a:rPr lang="es-ES" sz="3600" dirty="0"/>
              <a:t>): Demasiadas llamadas granulares a microservicios o </a:t>
            </a:r>
            <a:r>
              <a:rPr lang="es-ES" sz="3600" dirty="0" err="1"/>
              <a:t>APIs</a:t>
            </a:r>
            <a:r>
              <a:rPr lang="es-ES" sz="3600" dirty="0"/>
              <a:t> externas.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 </a:t>
            </a:r>
            <a:r>
              <a:rPr lang="es-ES" sz="3600" dirty="0" err="1"/>
              <a:t>Overfetching</a:t>
            </a:r>
            <a:r>
              <a:rPr lang="es-ES" sz="3600" dirty="0"/>
              <a:t> en </a:t>
            </a:r>
            <a:r>
              <a:rPr lang="es-ES" sz="3600" dirty="0" err="1"/>
              <a:t>resolvers</a:t>
            </a:r>
            <a:r>
              <a:rPr lang="es-ES" sz="3600" dirty="0"/>
              <a:t>: Traer todos los campos de la DB aunque el cliente solo pida uno.</a:t>
            </a:r>
          </a:p>
        </p:txBody>
      </p:sp>
    </p:spTree>
    <p:extLst>
      <p:ext uri="{BB962C8B-B14F-4D97-AF65-F5344CB8AC3E}">
        <p14:creationId xmlns:p14="http://schemas.microsoft.com/office/powerpoint/2010/main" val="2716867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00" y="6218336"/>
            <a:ext cx="10033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6337300"/>
            <a:ext cx="825500" cy="1003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8800" y="4931618"/>
            <a:ext cx="1003300" cy="965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100" y="3632200"/>
            <a:ext cx="1016000" cy="1016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48800" y="3606800"/>
            <a:ext cx="1003300" cy="10033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48800" y="2133600"/>
            <a:ext cx="1003300" cy="10033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74618" y="766938"/>
            <a:ext cx="6110382" cy="17709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684"/>
              </a:lnSpc>
              <a:spcBef>
                <a:spcPts val="110"/>
              </a:spcBef>
            </a:pPr>
            <a:r>
              <a:rPr sz="6100" b="1" spc="225" dirty="0">
                <a:solidFill>
                  <a:srgbClr val="000000"/>
                </a:solidFill>
                <a:latin typeface="Calibri"/>
                <a:cs typeface="Calibri"/>
              </a:rPr>
              <a:t>Resumen</a:t>
            </a:r>
            <a:r>
              <a:rPr sz="6100" b="1" spc="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100" b="1" spc="275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6100" b="1" spc="-2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100" b="1" spc="170" dirty="0">
                <a:solidFill>
                  <a:srgbClr val="0C0C0C"/>
                </a:solidFill>
                <a:latin typeface="Calibri"/>
                <a:cs typeface="Calibri"/>
              </a:rPr>
              <a:t>las</a:t>
            </a:r>
            <a:endParaRPr sz="6100" b="1" dirty="0">
              <a:latin typeface="Calibri"/>
              <a:cs typeface="Calibri"/>
            </a:endParaRPr>
          </a:p>
          <a:p>
            <a:pPr marL="38735">
              <a:lnSpc>
                <a:spcPts val="6984"/>
              </a:lnSpc>
            </a:pPr>
            <a:r>
              <a:rPr sz="6350" b="1" spc="100" dirty="0">
                <a:solidFill>
                  <a:srgbClr val="000000"/>
                </a:solidFill>
                <a:latin typeface="Calibri"/>
                <a:cs typeface="Calibri"/>
              </a:rPr>
              <a:t>ventajas</a:t>
            </a:r>
            <a:r>
              <a:rPr sz="6350" b="1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350" b="1" spc="170" dirty="0">
                <a:solidFill>
                  <a:srgbClr val="000000"/>
                </a:solidFill>
                <a:latin typeface="Calibri"/>
                <a:cs typeface="Calibri"/>
              </a:rPr>
              <a:t>clave</a:t>
            </a:r>
            <a:endParaRPr sz="6350" b="1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4125" y="3612797"/>
            <a:ext cx="4307205" cy="36510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8415" marR="5080" indent="-5080">
              <a:lnSpc>
                <a:spcPts val="3300"/>
              </a:lnSpc>
              <a:spcBef>
                <a:spcPts val="860"/>
              </a:spcBef>
              <a:tabLst>
                <a:tab pos="2164080" algn="l"/>
              </a:tabLst>
            </a:pPr>
            <a:r>
              <a:rPr sz="3200" spc="-10" dirty="0" err="1">
                <a:latin typeface="Calibri"/>
                <a:cs typeface="Calibri"/>
              </a:rPr>
              <a:t>Flexibilidad</a:t>
            </a:r>
            <a:r>
              <a:rPr lang="es-ES"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total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el </a:t>
            </a:r>
            <a:r>
              <a:rPr sz="3200" spc="-10" dirty="0">
                <a:latin typeface="Calibri"/>
                <a:cs typeface="Calibri"/>
              </a:rPr>
              <a:t>cliente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lang="es-ES" sz="3200" dirty="0">
              <a:latin typeface="Calibri"/>
              <a:cs typeface="Calibri"/>
            </a:endParaRPr>
          </a:p>
          <a:p>
            <a:pPr marL="17145" marR="1132840" indent="-5080">
              <a:lnSpc>
                <a:spcPct val="76300"/>
              </a:lnSpc>
              <a:spcBef>
                <a:spcPts val="3979"/>
              </a:spcBef>
            </a:pPr>
            <a:endParaRPr lang="es-ES" sz="3200" spc="-10" dirty="0">
              <a:latin typeface="Calibri"/>
              <a:cs typeface="Calibri"/>
            </a:endParaRPr>
          </a:p>
          <a:p>
            <a:pPr marL="17145" marR="1132840" indent="-5080">
              <a:lnSpc>
                <a:spcPct val="76300"/>
              </a:lnSpc>
              <a:spcBef>
                <a:spcPts val="3979"/>
              </a:spcBef>
            </a:pPr>
            <a:r>
              <a:rPr sz="3200" spc="-10" dirty="0" err="1">
                <a:latin typeface="Calibri"/>
                <a:cs typeface="Calibri"/>
              </a:rPr>
              <a:t>Documentación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automática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viva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8346" y="2345266"/>
            <a:ext cx="419671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Calibri"/>
                <a:cs typeface="Calibri"/>
              </a:rPr>
              <a:t>Menos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spc="70" dirty="0">
                <a:latin typeface="Calibri"/>
                <a:cs typeface="Calibri"/>
              </a:rPr>
              <a:t>llamadas</a:t>
            </a:r>
            <a:r>
              <a:rPr sz="3200" spc="295" dirty="0">
                <a:latin typeface="Calibri"/>
                <a:cs typeface="Calibri"/>
              </a:rPr>
              <a:t> </a:t>
            </a:r>
            <a:r>
              <a:rPr sz="3200" spc="95" dirty="0">
                <a:latin typeface="Calibri"/>
                <a:cs typeface="Calibri"/>
              </a:rPr>
              <a:t>de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red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xfrm>
            <a:off x="10850598" y="3606447"/>
            <a:ext cx="4417694" cy="36155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>
              <a:lnSpc>
                <a:spcPts val="3590"/>
              </a:lnSpc>
              <a:spcBef>
                <a:spcPts val="100"/>
              </a:spcBef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Tipado</a:t>
            </a:r>
            <a:r>
              <a:rPr sz="32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fuerte</a:t>
            </a:r>
            <a:r>
              <a:rPr sz="3200" spc="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50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  <a:p>
            <a:pPr marL="12700">
              <a:lnSpc>
                <a:spcPts val="3770"/>
              </a:lnSpc>
            </a:pPr>
            <a:r>
              <a:rPr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autocompletado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" marR="5080" indent="-5715">
              <a:lnSpc>
                <a:spcPts val="3300"/>
              </a:lnSpc>
              <a:spcBef>
                <a:spcPts val="3840"/>
              </a:spcBef>
            </a:pPr>
            <a:r>
              <a:rPr sz="3200" spc="-60" dirty="0" err="1">
                <a:latin typeface="Calibri" panose="020F0502020204030204" pitchFamily="34" charset="0"/>
                <a:cs typeface="Calibri" panose="020F0502020204030204" pitchFamily="34" charset="0"/>
              </a:rPr>
              <a:t>Evolución</a:t>
            </a:r>
            <a:r>
              <a:rPr sz="32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sin</a:t>
            </a:r>
            <a:r>
              <a:rPr sz="32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versionado </a:t>
            </a:r>
            <a:r>
              <a:rPr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agresivo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" marR="81915" indent="-5080">
              <a:lnSpc>
                <a:spcPct val="78500"/>
              </a:lnSpc>
            </a:pPr>
            <a:r>
              <a:rPr sz="3200" spc="-120" dirty="0">
                <a:latin typeface="Calibri" panose="020F0502020204030204" pitchFamily="34" charset="0"/>
                <a:cs typeface="Calibri" panose="020F0502020204030204" pitchFamily="34" charset="0"/>
              </a:rPr>
              <a:t>Mejor</a:t>
            </a:r>
            <a:r>
              <a:rPr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145" dirty="0">
                <a:latin typeface="Calibri" panose="020F0502020204030204" pitchFamily="34" charset="0"/>
                <a:cs typeface="Calibri" panose="020F0502020204030204" pitchFamily="34" charset="0"/>
              </a:rPr>
              <a:t>experiencia</a:t>
            </a:r>
            <a:r>
              <a:rPr sz="3200" spc="-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sz="3200" spc="-140" dirty="0">
                <a:latin typeface="Calibri" panose="020F0502020204030204" pitchFamily="34" charset="0"/>
                <a:cs typeface="Calibri" panose="020F0502020204030204" pitchFamily="34" charset="0"/>
              </a:rPr>
              <a:t>desarrollo</a:t>
            </a:r>
            <a:r>
              <a:rPr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135" dirty="0">
                <a:latin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sz="3200" spc="-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frontend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274" y="1897238"/>
            <a:ext cx="15282544" cy="6059672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 marR="5080" algn="ctr">
              <a:lnSpc>
                <a:spcPct val="88700"/>
              </a:lnSpc>
              <a:spcBef>
                <a:spcPts val="1275"/>
              </a:spcBef>
            </a:pPr>
            <a:r>
              <a:rPr lang="es-ES" sz="8600" spc="-35" dirty="0">
                <a:latin typeface="Arial MT"/>
                <a:cs typeface="Calibri" panose="020F0502020204030204" pitchFamily="34" charset="0"/>
              </a:rPr>
              <a:t>"</a:t>
            </a:r>
            <a:r>
              <a:rPr sz="8600" spc="-35" dirty="0" err="1">
                <a:latin typeface="Arial MT"/>
                <a:cs typeface="Calibri" panose="020F0502020204030204" pitchFamily="34" charset="0"/>
              </a:rPr>
              <a:t>GraphQL</a:t>
            </a:r>
            <a:r>
              <a:rPr sz="8600" spc="-12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140" dirty="0">
                <a:latin typeface="Arial MT"/>
                <a:cs typeface="Calibri" panose="020F0502020204030204" pitchFamily="34" charset="0"/>
              </a:rPr>
              <a:t>no</a:t>
            </a:r>
            <a:r>
              <a:rPr sz="8600" spc="-580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dirty="0">
                <a:latin typeface="Arial MT"/>
                <a:cs typeface="Calibri" panose="020F0502020204030204" pitchFamily="34" charset="0"/>
              </a:rPr>
              <a:t>es</a:t>
            </a:r>
            <a:r>
              <a:rPr sz="8600" spc="-50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110" dirty="0">
                <a:latin typeface="Arial MT"/>
                <a:cs typeface="Calibri" panose="020F0502020204030204" pitchFamily="34" charset="0"/>
              </a:rPr>
              <a:t>solo</a:t>
            </a:r>
            <a:r>
              <a:rPr sz="8600" spc="-52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dirty="0">
                <a:latin typeface="Arial MT"/>
                <a:cs typeface="Calibri" panose="020F0502020204030204" pitchFamily="34" charset="0"/>
              </a:rPr>
              <a:t>una</a:t>
            </a:r>
            <a:r>
              <a:rPr sz="8600" spc="-370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105" dirty="0">
                <a:latin typeface="Arial MT"/>
                <a:cs typeface="Calibri" panose="020F0502020204030204" pitchFamily="34" charset="0"/>
              </a:rPr>
              <a:t>forma </a:t>
            </a:r>
            <a:r>
              <a:rPr sz="8600" spc="215" dirty="0">
                <a:latin typeface="Arial MT"/>
                <a:cs typeface="Calibri" panose="020F0502020204030204" pitchFamily="34" charset="0"/>
              </a:rPr>
              <a:t>diferente</a:t>
            </a:r>
            <a:r>
              <a:rPr sz="8600" spc="-7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90" dirty="0">
                <a:latin typeface="Arial MT"/>
                <a:cs typeface="Calibri" panose="020F0502020204030204" pitchFamily="34" charset="0"/>
              </a:rPr>
              <a:t>de</a:t>
            </a:r>
            <a:r>
              <a:rPr sz="8600" spc="-51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80" dirty="0">
                <a:latin typeface="Arial MT"/>
                <a:cs typeface="Calibri" panose="020F0502020204030204" pitchFamily="34" charset="0"/>
              </a:rPr>
              <a:t>hacer</a:t>
            </a:r>
            <a:r>
              <a:rPr sz="8600" spc="145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-140" dirty="0">
                <a:latin typeface="Arial MT"/>
                <a:cs typeface="Calibri" panose="020F0502020204030204" pitchFamily="34" charset="0"/>
              </a:rPr>
              <a:t>APIs,</a:t>
            </a:r>
            <a:r>
              <a:rPr sz="8600" spc="-480" dirty="0">
                <a:latin typeface="Arial MT"/>
                <a:cs typeface="Calibri" panose="020F0502020204030204" pitchFamily="34" charset="0"/>
              </a:rPr>
              <a:t> </a:t>
            </a:r>
            <a:r>
              <a:rPr sz="8600" spc="130" dirty="0">
                <a:latin typeface="Arial MT"/>
                <a:cs typeface="Calibri" panose="020F0502020204030204" pitchFamily="34" charset="0"/>
              </a:rPr>
              <a:t>sino </a:t>
            </a:r>
            <a:r>
              <a:rPr sz="8550" spc="70" dirty="0">
                <a:latin typeface="Arial MT"/>
                <a:cs typeface="Calibri" panose="020F0502020204030204" pitchFamily="34" charset="0"/>
              </a:rPr>
              <a:t>sino</a:t>
            </a:r>
            <a:r>
              <a:rPr sz="8550" spc="-450" dirty="0">
                <a:latin typeface="Arial MT"/>
                <a:cs typeface="Calibri" panose="020F0502020204030204" pitchFamily="34" charset="0"/>
              </a:rPr>
              <a:t> </a:t>
            </a:r>
            <a:r>
              <a:rPr sz="8550" dirty="0">
                <a:latin typeface="Arial MT"/>
                <a:cs typeface="Calibri" panose="020F0502020204030204" pitchFamily="34" charset="0"/>
              </a:rPr>
              <a:t>una</a:t>
            </a:r>
            <a:r>
              <a:rPr sz="8550" spc="-204" dirty="0">
                <a:latin typeface="Arial MT"/>
                <a:cs typeface="Calibri" panose="020F0502020204030204" pitchFamily="34" charset="0"/>
              </a:rPr>
              <a:t> </a:t>
            </a:r>
            <a:r>
              <a:rPr sz="8550" dirty="0">
                <a:latin typeface="Arial MT"/>
                <a:cs typeface="Calibri" panose="020F0502020204030204" pitchFamily="34" charset="0"/>
              </a:rPr>
              <a:t>forma</a:t>
            </a:r>
            <a:r>
              <a:rPr sz="8550" spc="5" dirty="0">
                <a:latin typeface="Arial MT"/>
                <a:cs typeface="Calibri" panose="020F0502020204030204" pitchFamily="34" charset="0"/>
              </a:rPr>
              <a:t> </a:t>
            </a:r>
            <a:r>
              <a:rPr sz="8550" spc="105" dirty="0">
                <a:latin typeface="Arial MT"/>
                <a:cs typeface="Calibri" panose="020F0502020204030204" pitchFamily="34" charset="0"/>
              </a:rPr>
              <a:t>diferente</a:t>
            </a:r>
            <a:r>
              <a:rPr sz="8550" spc="-80" dirty="0">
                <a:latin typeface="Arial MT"/>
                <a:cs typeface="Calibri" panose="020F0502020204030204" pitchFamily="34" charset="0"/>
              </a:rPr>
              <a:t> </a:t>
            </a:r>
            <a:r>
              <a:rPr sz="8550" spc="65" dirty="0">
                <a:latin typeface="Arial MT"/>
                <a:cs typeface="Calibri" panose="020F0502020204030204" pitchFamily="34" charset="0"/>
              </a:rPr>
              <a:t>de </a:t>
            </a:r>
            <a:r>
              <a:rPr sz="8650" dirty="0">
                <a:latin typeface="Arial MT"/>
                <a:cs typeface="Calibri" panose="020F0502020204030204" pitchFamily="34" charset="0"/>
              </a:rPr>
              <a:t>pensar</a:t>
            </a:r>
            <a:r>
              <a:rPr sz="8650" spc="185" dirty="0">
                <a:latin typeface="Arial MT"/>
                <a:cs typeface="Calibri" panose="020F0502020204030204" pitchFamily="34" charset="0"/>
              </a:rPr>
              <a:t> </a:t>
            </a:r>
            <a:r>
              <a:rPr sz="8650" spc="100" dirty="0">
                <a:latin typeface="Arial MT"/>
                <a:cs typeface="Calibri" panose="020F0502020204030204" pitchFamily="34" charset="0"/>
              </a:rPr>
              <a:t>cómo</a:t>
            </a:r>
            <a:r>
              <a:rPr sz="8650" spc="-375" dirty="0">
                <a:latin typeface="Arial MT"/>
                <a:cs typeface="Calibri" panose="020F0502020204030204" pitchFamily="34" charset="0"/>
              </a:rPr>
              <a:t> </a:t>
            </a:r>
            <a:r>
              <a:rPr sz="8650" spc="180" dirty="0">
                <a:latin typeface="Arial MT"/>
                <a:cs typeface="Calibri" panose="020F0502020204030204" pitchFamily="34" charset="0"/>
              </a:rPr>
              <a:t>los</a:t>
            </a:r>
            <a:r>
              <a:rPr sz="8650" spc="-540" dirty="0">
                <a:latin typeface="Arial MT"/>
                <a:cs typeface="Calibri" panose="020F0502020204030204" pitchFamily="34" charset="0"/>
              </a:rPr>
              <a:t> </a:t>
            </a:r>
            <a:r>
              <a:rPr sz="8650" spc="170" dirty="0">
                <a:latin typeface="Arial MT"/>
                <a:cs typeface="Calibri" panose="020F0502020204030204" pitchFamily="34" charset="0"/>
              </a:rPr>
              <a:t>clientes </a:t>
            </a:r>
            <a:r>
              <a:rPr sz="8650" dirty="0" err="1">
                <a:latin typeface="Arial MT"/>
                <a:cs typeface="Calibri" panose="020F0502020204030204" pitchFamily="34" charset="0"/>
              </a:rPr>
              <a:t>consumen</a:t>
            </a:r>
            <a:r>
              <a:rPr sz="8650" spc="370" dirty="0">
                <a:latin typeface="Arial MT"/>
                <a:cs typeface="Calibri" panose="020F0502020204030204" pitchFamily="34" charset="0"/>
              </a:rPr>
              <a:t> </a:t>
            </a:r>
            <a:r>
              <a:rPr sz="8650" spc="135" dirty="0" err="1">
                <a:latin typeface="Arial MT"/>
                <a:cs typeface="Calibri" panose="020F0502020204030204" pitchFamily="34" charset="0"/>
              </a:rPr>
              <a:t>información</a:t>
            </a:r>
            <a:r>
              <a:rPr lang="es-ES" sz="8650" spc="135" dirty="0">
                <a:latin typeface="Arial MT"/>
                <a:cs typeface="Calibri" panose="020F0502020204030204" pitchFamily="34" charset="0"/>
              </a:rPr>
              <a:t>"</a:t>
            </a:r>
            <a:endParaRPr sz="8650" dirty="0">
              <a:latin typeface="Arial M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5700</TotalTime>
  <Words>885</Words>
  <Application>Microsoft Macintosh PowerPoint</Application>
  <PresentationFormat>Personalizado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Calibri</vt:lpstr>
      <vt:lpstr>Consolas</vt:lpstr>
      <vt:lpstr>Office Theme</vt:lpstr>
      <vt:lpstr>Presentación de PowerPoint</vt:lpstr>
      <vt:lpstr>Los dos problemas que todos hemos sufrido</vt:lpstr>
      <vt:lpstr>El mundo que conocemos:  El estándar REST y sus límites</vt:lpstr>
      <vt:lpstr>La idea principal detrás de GraphQL es sencilla pero poderosa:</vt:lpstr>
      <vt:lpstr>¿Qué es GraphQL exactamente?</vt:lpstr>
      <vt:lpstr>El cambio fundamental: De la rigidez a la flexibilidad</vt:lpstr>
      <vt:lpstr>El Schema: El contrato en el corazón de la API</vt:lpstr>
      <vt:lpstr>Presentación de PowerPoint</vt:lpstr>
      <vt:lpstr>Los tres pilares de la interacción</vt:lpstr>
      <vt:lpstr>Resolvers: Donde el 'qué' se encuentra con el 'cómo'</vt:lpstr>
      <vt:lpstr>Scalars personalizados en GraphQL</vt:lpstr>
      <vt:lpstr>Integración natural con Arquitectura Hexagonal</vt:lpstr>
      <vt:lpstr>GraphQL y CQRS: Una alineación perfecta</vt:lpstr>
      <vt:lpstr>¿Cuándo brilla realmente GraphQL?</vt:lpstr>
      <vt:lpstr>No es una bala de plata: Cuándo considerar alternativas</vt:lpstr>
      <vt:lpstr>Mito de Rendimiento: "GraphQL es lento"</vt:lpstr>
      <vt:lpstr>Resumen de las ventajas clave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Zalacain Garcia</cp:lastModifiedBy>
  <cp:revision>13</cp:revision>
  <dcterms:created xsi:type="dcterms:W3CDTF">2026-01-08T09:50:54Z</dcterms:created>
  <dcterms:modified xsi:type="dcterms:W3CDTF">2026-01-12T10:10:18Z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LastSaved">
    <vt:filetime>2026-01-08T00:00:00Z</vt:filetime>
  </property>
</Properties>
</file>